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6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6.svg" ContentType="image/svg+xml"/>
  <Override PartName="/ppt/media/image32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2.svg" ContentType="image/svg+xml"/>
  <Override PartName="/ppt/media/image5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  <p:sldId id="258" r:id="rId12"/>
    <p:sldId id="259" r:id="rId13"/>
    <p:sldId id="260" r:id="rId14"/>
    <p:sldId id="261" r:id="rId15"/>
    <p:sldId id="26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customXmlProps" Target="../customXml/itemProps68.xml"/><Relationship Id="rId11" Type="http://schemas.openxmlformats.org/officeDocument/2006/relationships/customXml" Target="../customXml/item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sv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sv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tags" Target="../tags/tag63.xml"/><Relationship Id="rId20" Type="http://schemas.openxmlformats.org/officeDocument/2006/relationships/tags" Target="../tags/tag64.xml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tags" Target="../tags/tag65.xml"/><Relationship Id="rId24" Type="http://schemas.openxmlformats.org/officeDocument/2006/relationships/slideLayout" Target="../slideLayouts/slideLayout1.xml"/><Relationship Id="rId25" Type="http://schemas.openxmlformats.org/officeDocument/2006/relationships/image" Target="../media/image5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3.png"/><Relationship Id="rId10" Type="http://schemas.openxmlformats.org/officeDocument/2006/relationships/image" Target="../media/image5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31.png"/><Relationship Id="rId18" Type="http://schemas.openxmlformats.org/officeDocument/2006/relationships/image" Target="../media/image32.svg"/><Relationship Id="rId19" Type="http://schemas.openxmlformats.org/officeDocument/2006/relationships/image" Target="../media/image33.png"/><Relationship Id="rId20" Type="http://schemas.openxmlformats.org/officeDocument/2006/relationships/tags" Target="../tags/tag66.xml"/><Relationship Id="rId21" Type="http://schemas.openxmlformats.org/officeDocument/2006/relationships/image" Target="../media/image34.png"/><Relationship Id="rId22" Type="http://schemas.openxmlformats.org/officeDocument/2006/relationships/image" Target="../media/image14.png"/><Relationship Id="rId23" Type="http://schemas.openxmlformats.org/officeDocument/2006/relationships/image" Target="../media/image35.png"/><Relationship Id="rId24" Type="http://schemas.openxmlformats.org/officeDocument/2006/relationships/image" Target="../media/image36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10.png"/><Relationship Id="rId28" Type="http://schemas.openxmlformats.org/officeDocument/2006/relationships/image" Target="../media/image11.svg"/><Relationship Id="rId29" Type="http://schemas.openxmlformats.org/officeDocument/2006/relationships/image" Target="../media/image39.png"/><Relationship Id="rId30" Type="http://schemas.openxmlformats.org/officeDocument/2006/relationships/image" Target="../media/image40.svg"/><Relationship Id="rId31" Type="http://schemas.openxmlformats.org/officeDocument/2006/relationships/image" Target="../media/image41.png"/><Relationship Id="rId32" Type="http://schemas.openxmlformats.org/officeDocument/2006/relationships/image" Target="../media/image42.svg"/><Relationship Id="rId33" Type="http://schemas.openxmlformats.org/officeDocument/2006/relationships/image" Target="../media/image43.png"/><Relationship Id="rId34" Type="http://schemas.openxmlformats.org/officeDocument/2006/relationships/image" Target="../media/image44.svg"/><Relationship Id="rId35" Type="http://schemas.openxmlformats.org/officeDocument/2006/relationships/image" Target="../media/image45.png"/><Relationship Id="rId36" Type="http://schemas.openxmlformats.org/officeDocument/2006/relationships/image" Target="../media/image46.png"/><Relationship Id="rId37" Type="http://schemas.openxmlformats.org/officeDocument/2006/relationships/image" Target="../media/image47.png"/><Relationship Id="rId38" Type="http://schemas.openxmlformats.org/officeDocument/2006/relationships/image" Target="../media/image48.png"/><Relationship Id="rId39" Type="http://schemas.openxmlformats.org/officeDocument/2006/relationships/image" Target="../media/image49.png"/><Relationship Id="rId40" Type="http://schemas.openxmlformats.org/officeDocument/2006/relationships/image" Target="../media/image50.png"/><Relationship Id="rId41" Type="http://schemas.openxmlformats.org/officeDocument/2006/relationships/image" Target="../media/image51.png"/><Relationship Id="rId42" Type="http://schemas.openxmlformats.org/officeDocument/2006/relationships/image" Target="../media/image52.svg"/><Relationship Id="rId43" Type="http://schemas.openxmlformats.org/officeDocument/2006/relationships/image" Target="../media/image53.png"/><Relationship Id="rId44" Type="http://schemas.openxmlformats.org/officeDocument/2006/relationships/image" Target="../media/image54.svg"/><Relationship Id="rId45" Type="http://schemas.openxmlformats.org/officeDocument/2006/relationships/tags" Target="../tags/tag67.xml"/><Relationship Id="rId46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rawio2pptx:shape:2"/>
          <p:cNvSpPr/>
          <p:nvPr/>
        </p:nvSpPr>
        <p:spPr>
          <a:xfrm>
            <a:off x="8432800" y="692785"/>
            <a:ext cx="3420110" cy="4723765"/>
          </a:xfrm>
          <a:prstGeom prst="rect">
            <a:avLst/>
          </a:prstGeom>
          <a:solidFill>
            <a:srgbClr val="FEFEFD"/>
          </a:solidFill>
          <a:ln w="9525">
            <a:solidFill>
              <a:srgbClr val="6969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72" name="drawio2pptx:shape:4"/>
          <p:cNvSpPr/>
          <p:nvPr/>
        </p:nvSpPr>
        <p:spPr>
          <a:xfrm>
            <a:off x="8434070" y="2520950"/>
            <a:ext cx="3419475" cy="14490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drawio2pptx:shape:2"/>
          <p:cNvSpPr/>
          <p:nvPr/>
        </p:nvSpPr>
        <p:spPr>
          <a:xfrm>
            <a:off x="180975" y="692785"/>
            <a:ext cx="4116705" cy="4723765"/>
          </a:xfrm>
          <a:prstGeom prst="rect">
            <a:avLst/>
          </a:prstGeom>
          <a:solidFill>
            <a:srgbClr val="FEFEFD"/>
          </a:solidFill>
          <a:ln w="9525">
            <a:solidFill>
              <a:srgbClr val="6969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34" name="drawio2pptx:shape:4"/>
          <p:cNvSpPr/>
          <p:nvPr/>
        </p:nvSpPr>
        <p:spPr>
          <a:xfrm>
            <a:off x="180975" y="692785"/>
            <a:ext cx="4116705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636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0" name="drawio2pptx:shape:4"/>
          <p:cNvSpPr/>
          <p:nvPr/>
        </p:nvSpPr>
        <p:spPr>
          <a:xfrm>
            <a:off x="4477385" y="692785"/>
            <a:ext cx="3768090" cy="1114425"/>
          </a:xfrm>
          <a:prstGeom prst="rect">
            <a:avLst/>
          </a:prstGeom>
          <a:noFill/>
          <a:ln w="9525">
            <a:solidFill>
              <a:srgbClr val="63636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FBFB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9" name="drawio2pptx:shape:4"/>
          <p:cNvSpPr/>
          <p:nvPr/>
        </p:nvSpPr>
        <p:spPr>
          <a:xfrm>
            <a:off x="4477385" y="1807210"/>
            <a:ext cx="3768090" cy="11144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636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" name="drawio2pptx:shape:4"/>
          <p:cNvSpPr/>
          <p:nvPr/>
        </p:nvSpPr>
        <p:spPr>
          <a:xfrm>
            <a:off x="4478020" y="4558665"/>
            <a:ext cx="3768090" cy="857885"/>
          </a:xfrm>
          <a:prstGeom prst="rect">
            <a:avLst/>
          </a:prstGeom>
          <a:solidFill>
            <a:srgbClr val="FBFBFB"/>
          </a:solidFill>
          <a:ln w="9525">
            <a:solidFill>
              <a:srgbClr val="636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" name="drawio2pptx:shape:8"/>
          <p:cNvSpPr/>
          <p:nvPr/>
        </p:nvSpPr>
        <p:spPr>
          <a:xfrm>
            <a:off x="4612640" y="2049145"/>
            <a:ext cx="1276350" cy="609600"/>
          </a:xfrm>
          <a:prstGeom prst="roundRect">
            <a:avLst/>
          </a:prstGeom>
          <a:solidFill>
            <a:srgbClr val="A9C799"/>
          </a:solidFill>
          <a:ln w="19050">
            <a:solidFill>
              <a:srgbClr val="1825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9" name="drawio2pptx:shape:9"/>
          <p:cNvSpPr/>
          <p:nvPr/>
        </p:nvSpPr>
        <p:spPr>
          <a:xfrm>
            <a:off x="4612640" y="3200400"/>
            <a:ext cx="1276350" cy="609600"/>
          </a:xfrm>
          <a:prstGeom prst="roundRect">
            <a:avLst/>
          </a:prstGeom>
          <a:solidFill>
            <a:srgbClr val="EEBE8A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6" name="drawio2pptx:image:1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1810385"/>
            <a:ext cx="3937000" cy="85725"/>
          </a:xfrm>
          <a:prstGeom prst="rect">
            <a:avLst/>
          </a:prstGeom>
        </p:spPr>
      </p:pic>
      <p:sp>
        <p:nvSpPr>
          <p:cNvPr id="40" name="drawio2pptx:shape:40"/>
          <p:cNvSpPr/>
          <p:nvPr/>
        </p:nvSpPr>
        <p:spPr>
          <a:xfrm>
            <a:off x="342855" y="2818650"/>
            <a:ext cx="3461385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7D9969"/>
                </a:solidFill>
                <a:latin typeface="Arial Narrow" panose="020B0606020202030204" charset="0"/>
                <a:cs typeface="Arial Narrow" panose="020B0606020202030204" charset="0"/>
              </a:rPr>
              <a:t>S3: Adding </a:t>
            </a:r>
            <a:r>
              <a:rPr lang="en-US" b="1" i="0" u="none">
                <a:solidFill>
                  <a:srgbClr val="7D9969"/>
                </a:solidFill>
                <a:latin typeface="Arial Narrow" panose="020B0606020202030204" charset="0"/>
                <a:cs typeface="Arial Narrow" panose="020B0606020202030204" charset="0"/>
              </a:rPr>
              <a:t>E</a:t>
            </a:r>
            <a:r>
              <a:rPr b="1" i="0" u="none">
                <a:solidFill>
                  <a:srgbClr val="7D9969"/>
                </a:solidFill>
                <a:latin typeface="Arial Narrow" panose="020B0606020202030204" charset="0"/>
                <a:cs typeface="Arial Narrow" panose="020B0606020202030204" charset="0"/>
              </a:rPr>
              <a:t>q</a:t>
            </a:r>
            <a:r>
              <a:rPr lang="en-US" b="1" i="0" u="none">
                <a:solidFill>
                  <a:srgbClr val="7D9969"/>
                </a:solidFill>
                <a:latin typeface="Arial Narrow" panose="020B0606020202030204" charset="0"/>
                <a:cs typeface="Arial Narrow" panose="020B0606020202030204" charset="0"/>
              </a:rPr>
              <a:t>.</a:t>
            </a:r>
            <a:r>
              <a:rPr b="1" i="0" u="none">
                <a:solidFill>
                  <a:srgbClr val="7D9969"/>
                </a:solidFill>
                <a:latin typeface="Arial Narrow" panose="020B0606020202030204" charset="0"/>
                <a:cs typeface="Arial Narrow" panose="020B0606020202030204" charset="0"/>
              </a:rPr>
              <a:t> 3x = 15 </a:t>
            </a:r>
            <a:endParaRPr b="1" i="0" u="none">
              <a:solidFill>
                <a:srgbClr val="7D9969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2" name="drawio2pptx:shape:42"/>
          <p:cNvSpPr/>
          <p:nvPr/>
        </p:nvSpPr>
        <p:spPr>
          <a:xfrm>
            <a:off x="342900" y="4258945"/>
            <a:ext cx="2825750" cy="3054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957191"/>
                </a:solidFill>
                <a:latin typeface="Arial Narrow" panose="020B0606020202030204" charset="0"/>
                <a:cs typeface="Arial Narrow" panose="020B0606020202030204" charset="0"/>
              </a:rPr>
              <a:t>S5: Substitut</a:t>
            </a:r>
            <a:r>
              <a:rPr lang="en-US" b="1" i="0" u="none">
                <a:solidFill>
                  <a:srgbClr val="957191"/>
                </a:solidFill>
                <a:latin typeface="Arial Narrow" panose="020B0606020202030204" charset="0"/>
                <a:cs typeface="Arial Narrow" panose="020B0606020202030204" charset="0"/>
              </a:rPr>
              <a:t>e</a:t>
            </a:r>
            <a:r>
              <a:rPr b="1" i="0" u="none">
                <a:solidFill>
                  <a:srgbClr val="957191"/>
                </a:solidFill>
                <a:latin typeface="Arial Narrow" panose="020B0606020202030204" charset="0"/>
                <a:cs typeface="Arial Narrow" panose="020B0606020202030204" charset="0"/>
              </a:rPr>
              <a:t> y = 10 - 5 = 5</a:t>
            </a:r>
            <a:endParaRPr b="1" i="0" u="none">
              <a:solidFill>
                <a:srgbClr val="95719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3" name="drawio2pptx:shape:43"/>
          <p:cNvSpPr/>
          <p:nvPr/>
        </p:nvSpPr>
        <p:spPr>
          <a:xfrm>
            <a:off x="182245" y="803275"/>
            <a:ext cx="4340225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>
                <a:solidFill>
                  <a:srgbClr val="A57175"/>
                </a:solidFill>
                <a:latin typeface="Arial Narrow" panose="020B0606020202030204"/>
              </a:rPr>
              <a:t>Mathematical Reasoning Trace</a:t>
            </a:r>
            <a:endParaRPr sz="2000" b="1" i="0" u="none">
              <a:solidFill>
                <a:srgbClr val="A57175"/>
              </a:solidFill>
              <a:latin typeface="Arial Narrow" panose="020B0606020202030204"/>
            </a:endParaRPr>
          </a:p>
        </p:txBody>
      </p:sp>
      <p:sp>
        <p:nvSpPr>
          <p:cNvPr id="44" name="drawio2pptx:shape:44"/>
          <p:cNvSpPr/>
          <p:nvPr/>
        </p:nvSpPr>
        <p:spPr>
          <a:xfrm>
            <a:off x="342855" y="4978650"/>
            <a:ext cx="34671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0D110D"/>
                </a:solidFill>
                <a:latin typeface="Arial Narrow" panose="020B0606020202030204" charset="0"/>
                <a:cs typeface="Arial Narrow" panose="020B0606020202030204" charset="0"/>
              </a:rPr>
              <a:t>S6: Conclu</a:t>
            </a:r>
            <a:r>
              <a:rPr lang="en-US" b="1" i="0" u="none">
                <a:solidFill>
                  <a:srgbClr val="0D110D"/>
                </a:solidFill>
                <a:latin typeface="Arial Narrow" panose="020B0606020202030204" charset="0"/>
                <a:cs typeface="Arial Narrow" panose="020B0606020202030204" charset="0"/>
              </a:rPr>
              <a:t>de</a:t>
            </a:r>
            <a:r>
              <a:rPr b="1" i="0" u="none">
                <a:solidFill>
                  <a:srgbClr val="0D110D"/>
                </a:solidFill>
                <a:latin typeface="Arial Narrow" panose="020B0606020202030204" charset="0"/>
                <a:cs typeface="Arial Narrow" panose="020B0606020202030204" charset="0"/>
              </a:rPr>
              <a:t> x = 5, y = 5</a:t>
            </a:r>
            <a:endParaRPr b="1" i="0" u="none">
              <a:solidFill>
                <a:srgbClr val="0D110D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5" name="drawio2pptx:shape:45"/>
          <p:cNvSpPr/>
          <p:nvPr/>
        </p:nvSpPr>
        <p:spPr>
          <a:xfrm>
            <a:off x="342855" y="2098650"/>
            <a:ext cx="2705100" cy="2954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151515"/>
                </a:solidFill>
                <a:latin typeface="Arial Narrow" panose="020B0606020202030204" charset="0"/>
                <a:cs typeface="Arial Narrow" panose="020B0606020202030204" charset="0"/>
              </a:rPr>
              <a:t>S2: Given 2x - y = 5</a:t>
            </a:r>
            <a:endParaRPr b="1" i="0" u="none">
              <a:solidFill>
                <a:srgbClr val="151515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6" name="drawio2pptx:shape:46"/>
          <p:cNvSpPr/>
          <p:nvPr/>
        </p:nvSpPr>
        <p:spPr>
          <a:xfrm>
            <a:off x="342855" y="1378650"/>
            <a:ext cx="2733675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212121"/>
                </a:solidFill>
                <a:latin typeface="Arial Narrow" panose="020B0606020202030204" charset="0"/>
                <a:cs typeface="Arial Narrow" panose="020B0606020202030204" charset="0"/>
              </a:rPr>
              <a:t>S1: Given x + y = 10</a:t>
            </a:r>
            <a:endParaRPr b="1" i="0" u="none">
              <a:solidFill>
                <a:srgbClr val="21212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7" name="drawio2pptx:shape:47"/>
          <p:cNvSpPr/>
          <p:nvPr/>
        </p:nvSpPr>
        <p:spPr>
          <a:xfrm>
            <a:off x="342855" y="3538650"/>
            <a:ext cx="257175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252121"/>
                </a:solidFill>
                <a:latin typeface="Arial Narrow" panose="020B0606020202030204" charset="0"/>
                <a:cs typeface="Arial Narrow" panose="020B0606020202030204" charset="0"/>
              </a:rPr>
              <a:t>S4: Therefore x = 5</a:t>
            </a:r>
            <a:endParaRPr b="1" i="0" u="none">
              <a:solidFill>
                <a:srgbClr val="25212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8" name="drawio2pptx:shape:48"/>
          <p:cNvSpPr/>
          <p:nvPr/>
        </p:nvSpPr>
        <p:spPr>
          <a:xfrm>
            <a:off x="5925978" y="4690491"/>
            <a:ext cx="2581275" cy="2573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/ Directionally </a:t>
            </a: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</a:t>
            </a: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onsistent</a:t>
            </a:r>
            <a:endParaRPr sz="16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9" name="drawio2pptx:shape:49"/>
          <p:cNvSpPr/>
          <p:nvPr/>
        </p:nvSpPr>
        <p:spPr>
          <a:xfrm>
            <a:off x="6169501" y="5087143"/>
            <a:ext cx="254317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/ No </a:t>
            </a: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O</a:t>
            </a: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rphan </a:t>
            </a: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</a:t>
            </a: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onclusion</a:t>
            </a:r>
            <a:endParaRPr sz="16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1" name="drawio2pptx:shape:51"/>
          <p:cNvSpPr/>
          <p:nvPr/>
        </p:nvSpPr>
        <p:spPr>
          <a:xfrm>
            <a:off x="3260775" y="5003800"/>
            <a:ext cx="58547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A56561"/>
                </a:solidFill>
                <a:latin typeface="Arial Narrow" panose="020B0606020202030204"/>
              </a:rPr>
              <a:t>CONCLUSION</a:t>
            </a:r>
            <a:endParaRPr sz="1600" b="1" i="0" u="none">
              <a:solidFill>
                <a:srgbClr val="A56561"/>
              </a:solidFill>
              <a:latin typeface="Arial Narrow" panose="020B0606020202030204"/>
            </a:endParaRPr>
          </a:p>
        </p:txBody>
      </p:sp>
      <p:sp>
        <p:nvSpPr>
          <p:cNvPr id="52" name="drawio2pptx:shape:52"/>
          <p:cNvSpPr/>
          <p:nvPr/>
        </p:nvSpPr>
        <p:spPr>
          <a:xfrm>
            <a:off x="4601845" y="5063490"/>
            <a:ext cx="132397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[</a:t>
            </a:r>
            <a:r>
              <a:rPr sz="2000" b="0" i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Connected</a:t>
            </a:r>
            <a:r>
              <a:rPr lang="en-US" sz="2000" b="0" i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]</a:t>
            </a:r>
            <a:endParaRPr lang="en-US" sz="2000" b="0" i="0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3" name="drawio2pptx:shape:53"/>
          <p:cNvSpPr/>
          <p:nvPr/>
        </p:nvSpPr>
        <p:spPr>
          <a:xfrm>
            <a:off x="3260775" y="3564255"/>
            <a:ext cx="535305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C5915D"/>
                </a:solidFill>
                <a:latin typeface="Arial Narrow" panose="020B0606020202030204"/>
              </a:rPr>
              <a:t>DERIVATION</a:t>
            </a:r>
            <a:endParaRPr sz="1600" b="1" i="0" u="none">
              <a:solidFill>
                <a:srgbClr val="C5915D"/>
              </a:solidFill>
              <a:latin typeface="Arial Narrow" panose="020B0606020202030204"/>
            </a:endParaRPr>
          </a:p>
        </p:txBody>
      </p:sp>
      <p:sp>
        <p:nvSpPr>
          <p:cNvPr id="54" name="drawio2pptx:shape:54"/>
          <p:cNvSpPr/>
          <p:nvPr/>
        </p:nvSpPr>
        <p:spPr>
          <a:xfrm>
            <a:off x="3260775" y="1403985"/>
            <a:ext cx="50673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7589A9"/>
                </a:solidFill>
                <a:latin typeface="Arial Narrow" panose="020B0606020202030204"/>
              </a:rPr>
              <a:t>DEFINITION</a:t>
            </a:r>
            <a:endParaRPr sz="1600" b="1" i="0" u="none">
              <a:solidFill>
                <a:srgbClr val="7589A9"/>
              </a:solidFill>
              <a:latin typeface="Arial Narrow" panose="020B0606020202030204"/>
            </a:endParaRPr>
          </a:p>
        </p:txBody>
      </p:sp>
      <p:sp>
        <p:nvSpPr>
          <p:cNvPr id="55" name="drawio2pptx:shape:55"/>
          <p:cNvSpPr/>
          <p:nvPr/>
        </p:nvSpPr>
        <p:spPr>
          <a:xfrm>
            <a:off x="3260775" y="2124075"/>
            <a:ext cx="50673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7585A9"/>
                </a:solidFill>
                <a:latin typeface="Arial Narrow" panose="020B0606020202030204"/>
              </a:rPr>
              <a:t>DEFINITION</a:t>
            </a:r>
            <a:endParaRPr sz="1600" b="1" i="0" u="none">
              <a:solidFill>
                <a:srgbClr val="7585A9"/>
              </a:solidFill>
              <a:latin typeface="Arial Narrow" panose="020B0606020202030204"/>
            </a:endParaRPr>
          </a:p>
        </p:txBody>
      </p:sp>
      <p:sp>
        <p:nvSpPr>
          <p:cNvPr id="59" name="drawio2pptx:shape:59"/>
          <p:cNvSpPr/>
          <p:nvPr/>
        </p:nvSpPr>
        <p:spPr>
          <a:xfrm>
            <a:off x="5269865" y="4173696"/>
            <a:ext cx="1066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1919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dependency</a:t>
            </a:r>
            <a:endParaRPr sz="2000" b="0" i="0" u="none">
              <a:solidFill>
                <a:srgbClr val="1919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0" name="drawio2pptx:shape:60"/>
          <p:cNvSpPr/>
          <p:nvPr/>
        </p:nvSpPr>
        <p:spPr>
          <a:xfrm>
            <a:off x="4601845" y="4687252"/>
            <a:ext cx="9810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[</a:t>
            </a:r>
            <a:r>
              <a:rPr sz="2000" b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Acyclic</a:t>
            </a:r>
            <a:r>
              <a:rPr lang="en-US" sz="2000" b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] </a:t>
            </a:r>
            <a:endParaRPr lang="en-US" sz="2000" b="0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158230" y="2047875"/>
            <a:ext cx="1276350" cy="599440"/>
            <a:chOff x="14078" y="4214"/>
            <a:chExt cx="2130" cy="944"/>
          </a:xfrm>
        </p:grpSpPr>
        <p:sp>
          <p:nvSpPr>
            <p:cNvPr id="7" name="drawio2pptx:shape:7"/>
            <p:cNvSpPr/>
            <p:nvPr/>
          </p:nvSpPr>
          <p:spPr>
            <a:xfrm>
              <a:off x="14078" y="4214"/>
              <a:ext cx="2130" cy="945"/>
            </a:xfrm>
            <a:prstGeom prst="roundRect">
              <a:avLst/>
            </a:prstGeom>
            <a:solidFill>
              <a:srgbClr val="C09ABB"/>
            </a:solidFill>
            <a:ln w="19050">
              <a:solidFill>
                <a:srgbClr val="3210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2" name="drawio2pptx:shape:62"/>
            <p:cNvSpPr/>
            <p:nvPr/>
          </p:nvSpPr>
          <p:spPr>
            <a:xfrm>
              <a:off x="14573" y="4499"/>
              <a:ext cx="1155" cy="43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i="0" u="none">
                  <a:solidFill>
                    <a:srgbClr val="0D050D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Step</a:t>
              </a:r>
              <a:r>
                <a:rPr lang="en-US" sz="2000" b="0" i="0" u="none">
                  <a:solidFill>
                    <a:srgbClr val="0D050D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5</a:t>
              </a:r>
              <a:endParaRPr lang="en-US" sz="2000" b="0" i="0" u="none">
                <a:solidFill>
                  <a:srgbClr val="0D050D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158230" y="3211830"/>
            <a:ext cx="1276350" cy="609600"/>
            <a:chOff x="10141" y="5058"/>
            <a:chExt cx="2130" cy="960"/>
          </a:xfrm>
        </p:grpSpPr>
        <p:sp>
          <p:nvSpPr>
            <p:cNvPr id="6" name="drawio2pptx:shape:6"/>
            <p:cNvSpPr/>
            <p:nvPr/>
          </p:nvSpPr>
          <p:spPr>
            <a:xfrm>
              <a:off x="10141" y="5058"/>
              <a:ext cx="2130" cy="960"/>
            </a:xfrm>
            <a:prstGeom prst="roundRect">
              <a:avLst/>
            </a:prstGeom>
            <a:solidFill>
              <a:srgbClr val="CD7D78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3" name="drawio2pptx:shape:63"/>
            <p:cNvSpPr/>
            <p:nvPr/>
          </p:nvSpPr>
          <p:spPr>
            <a:xfrm>
              <a:off x="10636" y="5343"/>
              <a:ext cx="1140" cy="43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i="0" u="none">
                  <a:solidFill>
                    <a:srgbClr val="1D090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Step</a:t>
              </a:r>
              <a:r>
                <a:rPr lang="en-US" sz="2000" b="0" i="0" u="none">
                  <a:solidFill>
                    <a:srgbClr val="1D090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6</a:t>
              </a:r>
              <a:endParaRPr sz="1600" b="0" i="0" u="none">
                <a:solidFill>
                  <a:srgbClr val="1D0909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64" name="drawio2pptx:shape:64"/>
          <p:cNvSpPr/>
          <p:nvPr/>
        </p:nvSpPr>
        <p:spPr>
          <a:xfrm>
            <a:off x="4888865" y="2229326"/>
            <a:ext cx="72399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Step 3</a:t>
            </a:r>
            <a:endParaRPr sz="2000" b="0" i="0" u="none">
              <a:solidFill>
                <a:srgbClr val="090D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7" name="drawio2pptx:shape:67"/>
          <p:cNvSpPr/>
          <p:nvPr/>
        </p:nvSpPr>
        <p:spPr>
          <a:xfrm>
            <a:off x="4888865" y="3393281"/>
            <a:ext cx="73342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1509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Step 4</a:t>
            </a:r>
            <a:endParaRPr sz="2000" b="0" i="0" u="none">
              <a:solidFill>
                <a:srgbClr val="15090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158230" y="905510"/>
            <a:ext cx="1276350" cy="609600"/>
            <a:chOff x="11003" y="1263"/>
            <a:chExt cx="2010" cy="960"/>
          </a:xfrm>
        </p:grpSpPr>
        <p:sp>
          <p:nvSpPr>
            <p:cNvPr id="11" name="drawio2pptx:shape:11"/>
            <p:cNvSpPr/>
            <p:nvPr/>
          </p:nvSpPr>
          <p:spPr>
            <a:xfrm>
              <a:off x="11003" y="1263"/>
              <a:ext cx="2010" cy="960"/>
            </a:xfrm>
            <a:prstGeom prst="roundRect">
              <a:avLst/>
            </a:prstGeom>
            <a:solidFill>
              <a:srgbClr val="879FC2"/>
            </a:solidFill>
            <a:ln w="19050">
              <a:solidFill>
                <a:srgbClr val="1523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9" name="drawio2pptx:shape:69"/>
            <p:cNvSpPr/>
            <p:nvPr/>
          </p:nvSpPr>
          <p:spPr>
            <a:xfrm>
              <a:off x="11438" y="1567"/>
              <a:ext cx="1110" cy="40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i="0" u="none">
                  <a:solidFill>
                    <a:srgbClr val="090D15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Step</a:t>
              </a:r>
              <a:r>
                <a:rPr lang="en-US" sz="2000" b="0" i="0" u="none">
                  <a:solidFill>
                    <a:srgbClr val="090D15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1</a:t>
              </a:r>
              <a:endParaRPr lang="en-US" sz="2000" b="0" i="0" u="none">
                <a:solidFill>
                  <a:srgbClr val="090D15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70" name="drawio2pptx:shape:70"/>
          <p:cNvSpPr/>
          <p:nvPr/>
        </p:nvSpPr>
        <p:spPr>
          <a:xfrm>
            <a:off x="7132320" y="4168775"/>
            <a:ext cx="904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sequential</a:t>
            </a:r>
            <a:endParaRPr sz="2000" b="0" i="0" u="none">
              <a:solidFill>
                <a:srgbClr val="090D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839770" y="4258945"/>
            <a:ext cx="14573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57191"/>
                </a:solidFill>
                <a:latin typeface="Arial Narrow" panose="020B0606020202030204"/>
                <a:sym typeface="+mn-ea"/>
              </a:rPr>
              <a:t>SUBSTITUTION</a:t>
            </a:r>
            <a:endParaRPr lang="zh-CN" altLang="en-US" sz="1600" b="1">
              <a:solidFill>
                <a:srgbClr val="957191"/>
              </a:solidFill>
              <a:latin typeface="Arial Narrow" panose="020B0606020202030204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25165" y="2825750"/>
            <a:ext cx="14573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9969"/>
                </a:solidFill>
                <a:latin typeface="Arial Narrow Bold" panose="020B0606020202030204" charset="0"/>
                <a:cs typeface="Arial Narrow Bold" panose="020B0606020202030204" charset="0"/>
                <a:sym typeface="+mn-ea"/>
              </a:rPr>
              <a:t>COMPUTATION</a:t>
            </a:r>
            <a:endParaRPr lang="zh-CN" altLang="en-US" sz="1600" b="1">
              <a:solidFill>
                <a:srgbClr val="7D9969"/>
              </a:solidFill>
              <a:latin typeface="Arial Narrow Bold" panose="020B0606020202030204" charset="0"/>
              <a:cs typeface="Arial Narrow Bold" panose="020B0606020202030204" charset="0"/>
              <a:sym typeface="+mn-ea"/>
            </a:endParaRPr>
          </a:p>
        </p:txBody>
      </p:sp>
      <p:pic>
        <p:nvPicPr>
          <p:cNvPr id="18" name="drawio2pptx:image:1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2530475"/>
            <a:ext cx="3937000" cy="85725"/>
          </a:xfrm>
          <a:prstGeom prst="rect">
            <a:avLst/>
          </a:prstGeom>
        </p:spPr>
      </p:pic>
      <p:pic>
        <p:nvPicPr>
          <p:cNvPr id="19" name="drawio2pptx:image:1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3250565"/>
            <a:ext cx="3937000" cy="85725"/>
          </a:xfrm>
          <a:prstGeom prst="rect">
            <a:avLst/>
          </a:prstGeom>
        </p:spPr>
      </p:pic>
      <p:pic>
        <p:nvPicPr>
          <p:cNvPr id="20" name="drawio2pptx:image:1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3970655"/>
            <a:ext cx="3937000" cy="85725"/>
          </a:xfrm>
          <a:prstGeom prst="rect">
            <a:avLst/>
          </a:prstGeom>
        </p:spPr>
      </p:pic>
      <p:pic>
        <p:nvPicPr>
          <p:cNvPr id="37" name="drawio2pptx:image:1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4690745"/>
            <a:ext cx="3937000" cy="85725"/>
          </a:xfrm>
          <a:prstGeom prst="rect">
            <a:avLst/>
          </a:prstGeom>
        </p:spPr>
      </p:pic>
      <p:cxnSp>
        <p:nvCxnSpPr>
          <p:cNvPr id="71" name="直接箭头连接符 70"/>
          <p:cNvCxnSpPr/>
          <p:nvPr/>
        </p:nvCxnSpPr>
        <p:spPr>
          <a:xfrm>
            <a:off x="6834505" y="1515110"/>
            <a:ext cx="0" cy="53276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endCxn id="10" idx="3"/>
          </p:cNvCxnSpPr>
          <p:nvPr/>
        </p:nvCxnSpPr>
        <p:spPr>
          <a:xfrm flipH="1">
            <a:off x="5879465" y="1210310"/>
            <a:ext cx="278765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H="1">
            <a:off x="5591810" y="1513205"/>
            <a:ext cx="930910" cy="50038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8" idx="2"/>
            <a:endCxn id="9" idx="0"/>
          </p:cNvCxnSpPr>
          <p:nvPr/>
        </p:nvCxnSpPr>
        <p:spPr>
          <a:xfrm>
            <a:off x="5250815" y="2658745"/>
            <a:ext cx="0" cy="54165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V="1">
            <a:off x="5541010" y="2689860"/>
            <a:ext cx="800735" cy="49593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>
            <a:off x="6757035" y="2658745"/>
            <a:ext cx="0" cy="54991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9" idx="3"/>
          </p:cNvCxnSpPr>
          <p:nvPr/>
        </p:nvCxnSpPr>
        <p:spPr>
          <a:xfrm>
            <a:off x="5888990" y="3505200"/>
            <a:ext cx="269240" cy="1143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5360035" y="1513205"/>
            <a:ext cx="4445" cy="52133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5154930" y="1489710"/>
            <a:ext cx="0" cy="54483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>
            <a:off x="6454775" y="4303395"/>
            <a:ext cx="499110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>
            <a:off x="4612640" y="4303395"/>
            <a:ext cx="501015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>
            <a:off x="6908800" y="2647315"/>
            <a:ext cx="0" cy="56070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drawio2pptx:shape:10"/>
          <p:cNvSpPr/>
          <p:nvPr/>
        </p:nvSpPr>
        <p:spPr>
          <a:xfrm>
            <a:off x="4612640" y="905510"/>
            <a:ext cx="1266825" cy="609600"/>
          </a:xfrm>
          <a:prstGeom prst="roundRect">
            <a:avLst/>
          </a:prstGeom>
          <a:solidFill>
            <a:srgbClr val="99ADCC"/>
          </a:solidFill>
          <a:ln w="19050">
            <a:solidFill>
              <a:srgbClr val="324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5" name="drawio2pptx:shape:65"/>
          <p:cNvSpPr/>
          <p:nvPr/>
        </p:nvSpPr>
        <p:spPr>
          <a:xfrm>
            <a:off x="4886483" y="1100772"/>
            <a:ext cx="74304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Step 2</a:t>
            </a:r>
            <a:endParaRPr sz="2000" b="0" i="0" u="none">
              <a:solidFill>
                <a:srgbClr val="090D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2" name="图片 11" descr="check_18286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260" y="4700905"/>
            <a:ext cx="243205" cy="243205"/>
          </a:xfrm>
          <a:prstGeom prst="rect">
            <a:avLst/>
          </a:prstGeom>
        </p:spPr>
      </p:pic>
      <p:sp>
        <p:nvSpPr>
          <p:cNvPr id="25" name="drawio2pptx:shape:46"/>
          <p:cNvSpPr/>
          <p:nvPr/>
        </p:nvSpPr>
        <p:spPr>
          <a:xfrm>
            <a:off x="7527925" y="1060450"/>
            <a:ext cx="90551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1" u="none">
                <a:solidFill>
                  <a:srgbClr val="212121"/>
                </a:solidFill>
                <a:latin typeface="Arial Narrow" panose="020B0606020202030204" charset="0"/>
                <a:cs typeface="Arial Narrow" panose="020B0606020202030204" charset="0"/>
              </a:rPr>
              <a:t>Layer 1</a:t>
            </a:r>
            <a:endParaRPr lang="en-US" b="0" i="1" u="none">
              <a:solidFill>
                <a:srgbClr val="21212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27" name="drawio2pptx:shape:46"/>
          <p:cNvSpPr/>
          <p:nvPr/>
        </p:nvSpPr>
        <p:spPr>
          <a:xfrm>
            <a:off x="7527925" y="2200910"/>
            <a:ext cx="90551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1" u="none">
                <a:solidFill>
                  <a:srgbClr val="212121"/>
                </a:solidFill>
                <a:latin typeface="Arial Narrow" panose="020B0606020202030204" charset="0"/>
                <a:cs typeface="Arial Narrow" panose="020B0606020202030204" charset="0"/>
              </a:rPr>
              <a:t>Layer 2</a:t>
            </a:r>
            <a:endParaRPr lang="en-US" b="0" i="1" u="none">
              <a:solidFill>
                <a:srgbClr val="21212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28" name="drawio2pptx:shape:46"/>
          <p:cNvSpPr/>
          <p:nvPr/>
        </p:nvSpPr>
        <p:spPr>
          <a:xfrm>
            <a:off x="7527925" y="3355340"/>
            <a:ext cx="90551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1" u="none">
                <a:solidFill>
                  <a:srgbClr val="212121"/>
                </a:solidFill>
                <a:latin typeface="Arial Narrow" panose="020B0606020202030204" charset="0"/>
                <a:cs typeface="Arial Narrow" panose="020B0606020202030204" charset="0"/>
              </a:rPr>
              <a:t>Layer 3</a:t>
            </a:r>
            <a:endParaRPr lang="en-US" b="0" i="1" u="none">
              <a:solidFill>
                <a:srgbClr val="21212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31" name="drawio2pptx:shape:4"/>
          <p:cNvSpPr/>
          <p:nvPr/>
        </p:nvSpPr>
        <p:spPr>
          <a:xfrm>
            <a:off x="4477385" y="2921635"/>
            <a:ext cx="3768090" cy="1114425"/>
          </a:xfrm>
          <a:prstGeom prst="rect">
            <a:avLst/>
          </a:prstGeom>
          <a:noFill/>
          <a:ln w="9525">
            <a:solidFill>
              <a:srgbClr val="63636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FBFB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33" name="图片 32" descr="check_18286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465" y="5086985"/>
            <a:ext cx="243205" cy="243205"/>
          </a:xfrm>
          <a:prstGeom prst="rect">
            <a:avLst/>
          </a:prstGeom>
        </p:spPr>
      </p:pic>
      <p:sp>
        <p:nvSpPr>
          <p:cNvPr id="58" name="drawio2pptx:shape:4"/>
          <p:cNvSpPr/>
          <p:nvPr/>
        </p:nvSpPr>
        <p:spPr>
          <a:xfrm>
            <a:off x="8433435" y="692785"/>
            <a:ext cx="342011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636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6" name="drawio2pptx:shape:43"/>
          <p:cNvSpPr/>
          <p:nvPr/>
        </p:nvSpPr>
        <p:spPr>
          <a:xfrm>
            <a:off x="8432800" y="805180"/>
            <a:ext cx="3420110" cy="3054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i="0" u="none">
                <a:solidFill>
                  <a:srgbClr val="A57175"/>
                </a:solidFill>
                <a:latin typeface="Arial Narrow" panose="020B0606020202030204"/>
              </a:rPr>
              <a:t>Topology-Guided Distillation</a:t>
            </a:r>
            <a:endParaRPr lang="en-US" altLang="zh-CN" sz="2000" b="1" i="0" u="none">
              <a:solidFill>
                <a:srgbClr val="A57175"/>
              </a:solidFill>
              <a:latin typeface="Arial Narrow" panose="020B0606020202030204"/>
            </a:endParaRPr>
          </a:p>
        </p:txBody>
      </p:sp>
      <p:sp>
        <p:nvSpPr>
          <p:cNvPr id="75" name="drawio2pptx:shape:4"/>
          <p:cNvSpPr/>
          <p:nvPr/>
        </p:nvSpPr>
        <p:spPr>
          <a:xfrm>
            <a:off x="8433435" y="692785"/>
            <a:ext cx="3420110" cy="4723130"/>
          </a:xfrm>
          <a:prstGeom prst="rect">
            <a:avLst/>
          </a:prstGeom>
          <a:noFill/>
          <a:ln w="9525">
            <a:solidFill>
              <a:srgbClr val="63636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2" name="drawio2pptx:shape:4"/>
          <p:cNvSpPr/>
          <p:nvPr/>
        </p:nvSpPr>
        <p:spPr>
          <a:xfrm>
            <a:off x="8432800" y="692785"/>
            <a:ext cx="3420110" cy="4723765"/>
          </a:xfrm>
          <a:prstGeom prst="rect">
            <a:avLst/>
          </a:prstGeom>
          <a:noFill/>
          <a:ln w="9525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8432800" y="1226185"/>
            <a:ext cx="341947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  <a:sym typeface="+mn-ea"/>
              </a:rPr>
              <a:t>Implicit Process Reward Model</a:t>
            </a:r>
            <a:endParaRPr lang="en-US" altLang="zh-CN" sz="1600" b="1" i="1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434070" y="2520315"/>
            <a:ext cx="341947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  <a:sym typeface="+mn-ea"/>
              </a:rPr>
              <a:t>Choquet Reward</a:t>
            </a:r>
            <a:endParaRPr lang="en-US" altLang="zh-CN" sz="1600" b="1" i="1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8432165" y="3970655"/>
            <a:ext cx="34201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latin typeface="Arial Narrow" panose="020B0606020202030204" charset="0"/>
                <a:cs typeface="Arial Narrow" panose="020B0606020202030204" charset="0"/>
                <a:sym typeface="+mn-ea"/>
              </a:rPr>
              <a:t>Topology-Guided Distillation</a:t>
            </a:r>
            <a:endParaRPr lang="en-US" altLang="zh-CN" sz="1600" b="1" i="1">
              <a:latin typeface="Arial Narrow" panose="020B0606020202030204" charset="0"/>
              <a:cs typeface="Arial Narrow" panose="020B0606020202030204" charset="0"/>
              <a:sym typeface="+mn-ea"/>
            </a:endParaRPr>
          </a:p>
        </p:txBody>
      </p:sp>
      <p:pic>
        <p:nvPicPr>
          <p:cNvPr id="94" name="drawio2pptx:image:4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095" y="4319270"/>
            <a:ext cx="419100" cy="457200"/>
          </a:xfrm>
          <a:prstGeom prst="rect">
            <a:avLst/>
          </a:prstGeom>
        </p:spPr>
      </p:pic>
      <p:pic>
        <p:nvPicPr>
          <p:cNvPr id="96" name="drawio2pptx:image: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445" y="5020310"/>
            <a:ext cx="285750" cy="323850"/>
          </a:xfrm>
          <a:prstGeom prst="rect">
            <a:avLst/>
          </a:prstGeom>
        </p:spPr>
      </p:pic>
      <p:sp>
        <p:nvSpPr>
          <p:cNvPr id="97" name="drawio2pptx:shape:70"/>
          <p:cNvSpPr/>
          <p:nvPr/>
        </p:nvSpPr>
        <p:spPr>
          <a:xfrm>
            <a:off x="8926195" y="4406900"/>
            <a:ext cx="904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Teacher</a:t>
            </a:r>
            <a:endParaRPr lang="en-US" sz="2000" b="0" i="0" u="none">
              <a:solidFill>
                <a:srgbClr val="090D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98" name="drawio2pptx:shape:70"/>
          <p:cNvSpPr/>
          <p:nvPr/>
        </p:nvSpPr>
        <p:spPr>
          <a:xfrm>
            <a:off x="8799195" y="5064125"/>
            <a:ext cx="904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Student</a:t>
            </a:r>
            <a:endParaRPr lang="en-US" sz="2000" b="0" i="0" u="none">
              <a:solidFill>
                <a:srgbClr val="090D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99" name="曲线连接符 98"/>
          <p:cNvCxnSpPr/>
          <p:nvPr/>
        </p:nvCxnSpPr>
        <p:spPr>
          <a:xfrm rot="5400000" flipH="1" flipV="1">
            <a:off x="8682355" y="4758055"/>
            <a:ext cx="402590" cy="209550"/>
          </a:xfrm>
          <a:prstGeom prst="curvedConnector3">
            <a:avLst>
              <a:gd name="adj1" fmla="val 3785"/>
            </a:avLst>
          </a:prstGeom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lgDash"/>
            <a:miter lim="800000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drawio2pptx:shape:48"/>
          <p:cNvSpPr/>
          <p:nvPr/>
        </p:nvSpPr>
        <p:spPr>
          <a:xfrm>
            <a:off x="8988425" y="4776470"/>
            <a:ext cx="215011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Teacher-forced objective:</a:t>
            </a:r>
            <a:endParaRPr lang="en-US" sz="14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105" name="直接箭头连接符 104"/>
          <p:cNvCxnSpPr>
            <a:stCxn id="97" idx="3"/>
          </p:cNvCxnSpPr>
          <p:nvPr/>
        </p:nvCxnSpPr>
        <p:spPr>
          <a:xfrm>
            <a:off x="9831070" y="4526280"/>
            <a:ext cx="2336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6" name="334E55B0-647D-440b-865C-3EC943EB4CBC-2" descr="wpsoffice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34600" y="4566285"/>
            <a:ext cx="1595755" cy="210185"/>
          </a:xfrm>
          <a:prstGeom prst="rect">
            <a:avLst/>
          </a:prstGeom>
        </p:spPr>
      </p:pic>
      <p:sp>
        <p:nvSpPr>
          <p:cNvPr id="107" name="drawio2pptx:shape:48"/>
          <p:cNvSpPr/>
          <p:nvPr/>
        </p:nvSpPr>
        <p:spPr>
          <a:xfrm>
            <a:off x="10135235" y="4309110"/>
            <a:ext cx="171958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Revision instruction:</a:t>
            </a:r>
            <a:endParaRPr lang="en-US" sz="14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11" name="drawio2pptx:image: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9320" y="2877820"/>
            <a:ext cx="723265" cy="772795"/>
          </a:xfrm>
          <a:prstGeom prst="rect">
            <a:avLst/>
          </a:prstGeom>
        </p:spPr>
      </p:pic>
      <p:sp>
        <p:nvSpPr>
          <p:cNvPr id="112" name="drawio2pptx:shape:48"/>
          <p:cNvSpPr/>
          <p:nvPr/>
        </p:nvSpPr>
        <p:spPr>
          <a:xfrm>
            <a:off x="11099165" y="3636645"/>
            <a:ext cx="74231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Estimator</a:t>
            </a:r>
            <a:endParaRPr lang="en-US" sz="14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9193530" y="2098675"/>
            <a:ext cx="1676400" cy="295275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PRM Aggregator</a:t>
            </a:r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4" name="直接箭头连接符 113"/>
          <p:cNvCxnSpPr/>
          <p:nvPr/>
        </p:nvCxnSpPr>
        <p:spPr>
          <a:xfrm>
            <a:off x="10878185" y="2239010"/>
            <a:ext cx="2336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文本框 115"/>
              <p:cNvSpPr txBox="1"/>
              <p:nvPr/>
            </p:nvSpPr>
            <p:spPr>
              <a:xfrm>
                <a:off x="11054969" y="2049081"/>
                <a:ext cx="797560" cy="3689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final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6" name="文本框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4969" y="2049081"/>
                <a:ext cx="797560" cy="368935"/>
              </a:xfrm>
              <a:prstGeom prst="rect">
                <a:avLst/>
              </a:prstGeom>
              <a:blipFill rotWithShape="1">
                <a:blip r:embed="rId8"/>
                <a:stretch>
                  <a:fillRect l="-32" t="-155" r="-525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圆角矩形 116"/>
          <p:cNvSpPr/>
          <p:nvPr/>
        </p:nvSpPr>
        <p:spPr>
          <a:xfrm>
            <a:off x="8513445" y="1558925"/>
            <a:ext cx="1266825" cy="2952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DAG Scorer</a:t>
            </a:r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4537710" y="780415"/>
            <a:ext cx="2956560" cy="3215640"/>
          </a:xfrm>
          <a:prstGeom prst="roundRect">
            <a:avLst>
              <a:gd name="adj" fmla="val 6987"/>
            </a:avLst>
          </a:prstGeom>
          <a:noFill/>
          <a:ln w="28575" cmpd="sng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0" name="曲线连接符 119"/>
          <p:cNvCxnSpPr/>
          <p:nvPr/>
        </p:nvCxnSpPr>
        <p:spPr>
          <a:xfrm flipV="1">
            <a:off x="7529195" y="1772285"/>
            <a:ext cx="950595" cy="305435"/>
          </a:xfrm>
          <a:prstGeom prst="curvedConnector3">
            <a:avLst>
              <a:gd name="adj1" fmla="val 50033"/>
            </a:avLst>
          </a:prstGeom>
          <a:ln w="31750" cmpd="sng">
            <a:solidFill>
              <a:schemeClr val="accent2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肘形连接符 120"/>
          <p:cNvCxnSpPr>
            <a:endCxn id="113" idx="1"/>
          </p:cNvCxnSpPr>
          <p:nvPr/>
        </p:nvCxnSpPr>
        <p:spPr>
          <a:xfrm rot="5400000" flipV="1">
            <a:off x="8876665" y="1929765"/>
            <a:ext cx="386715" cy="24638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本框 122"/>
              <p:cNvSpPr txBox="1"/>
              <p:nvPr/>
            </p:nvSpPr>
            <p:spPr>
              <a:xfrm>
                <a:off x="8434324" y="2073211"/>
                <a:ext cx="821055" cy="3848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kern="800">
                              <a:solidFill>
                                <a:schemeClr val="tx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topo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3" name="文本框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324" y="2073211"/>
                <a:ext cx="821055" cy="384810"/>
              </a:xfrm>
              <a:prstGeom prst="rect">
                <a:avLst/>
              </a:prstGeom>
              <a:blipFill rotWithShape="1">
                <a:blip r:embed="rId9"/>
                <a:stretch>
                  <a:fillRect l="-31" t="-148" r="31" b="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圆角矩形 128"/>
          <p:cNvSpPr/>
          <p:nvPr/>
        </p:nvSpPr>
        <p:spPr>
          <a:xfrm>
            <a:off x="9831070" y="1558925"/>
            <a:ext cx="930910" cy="295275"/>
          </a:xfrm>
          <a:prstGeom prst="roundRect">
            <a:avLst/>
          </a:prstGeom>
          <a:solidFill>
            <a:srgbClr val="B972FF">
              <a:alpha val="40000"/>
            </a:srgb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10799445" y="1558925"/>
            <a:ext cx="930910" cy="295275"/>
          </a:xfrm>
          <a:prstGeom prst="roundRect">
            <a:avLst/>
          </a:prstGeom>
          <a:solidFill>
            <a:srgbClr val="FF0000">
              <a:alpha val="21000"/>
            </a:srgb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28" name="图片 127" descr="五角星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16010" y="1990725"/>
            <a:ext cx="210185" cy="2101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文本框 123"/>
              <p:cNvSpPr txBox="1"/>
              <p:nvPr/>
            </p:nvSpPr>
            <p:spPr>
              <a:xfrm>
                <a:off x="9831070" y="1558925"/>
                <a:ext cx="487045" cy="31623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noAutofit/>
              </a:bodyPr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fmt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4" name="文本框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070" y="1558925"/>
                <a:ext cx="487045" cy="316230"/>
              </a:xfrm>
              <a:prstGeom prst="rect">
                <a:avLst/>
              </a:prstGeom>
              <a:blipFill rotWithShape="1">
                <a:blip r:embed="rId12"/>
                <a:stretch>
                  <a:fillRect r="-39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文本框 124"/>
              <p:cNvSpPr txBox="1"/>
              <p:nvPr/>
            </p:nvSpPr>
            <p:spPr>
              <a:xfrm>
                <a:off x="10800080" y="1558290"/>
                <a:ext cx="457835" cy="29464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noAutofit/>
              </a:bodyPr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5" name="文本框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0080" y="1558290"/>
                <a:ext cx="457835" cy="294640"/>
              </a:xfrm>
              <a:prstGeom prst="rect">
                <a:avLst/>
              </a:prstGeom>
              <a:blipFill rotWithShape="1">
                <a:blip r:embed="rId13"/>
                <a:stretch>
                  <a:fillRect r="-45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2" name="drawio2pptx:image:4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54130" y="1558925"/>
            <a:ext cx="276225" cy="285750"/>
          </a:xfrm>
          <a:prstGeom prst="rect">
            <a:avLst/>
          </a:prstGeom>
        </p:spPr>
      </p:pic>
      <p:pic>
        <p:nvPicPr>
          <p:cNvPr id="133" name="图片 132" descr="doc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66705" y="1558290"/>
            <a:ext cx="295275" cy="295275"/>
          </a:xfrm>
          <a:prstGeom prst="rect">
            <a:avLst/>
          </a:prstGeom>
        </p:spPr>
      </p:pic>
      <p:sp>
        <p:nvSpPr>
          <p:cNvPr id="134" name="文本框 133"/>
          <p:cNvSpPr txBox="1"/>
          <p:nvPr/>
        </p:nvSpPr>
        <p:spPr>
          <a:xfrm>
            <a:off x="9780270" y="1859915"/>
            <a:ext cx="949960" cy="2133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Form Check</a:t>
            </a:r>
            <a:endParaRPr lang="en-US" sz="1200" i="1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10761980" y="1864360"/>
            <a:ext cx="949960" cy="2133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Outcome</a:t>
            </a:r>
            <a:endParaRPr lang="en-US" sz="1200" i="1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8509635" y="3384550"/>
            <a:ext cx="2571750" cy="548005"/>
          </a:xfrm>
          <a:prstGeom prst="roundRect">
            <a:avLst/>
          </a:prstGeom>
          <a:solidFill>
            <a:srgbClr val="FF0000">
              <a:alpha val="21000"/>
            </a:srgb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8513445" y="2816225"/>
            <a:ext cx="2571750" cy="548005"/>
          </a:xfrm>
          <a:prstGeom prst="roundRect">
            <a:avLst/>
          </a:prstGeom>
          <a:solidFill>
            <a:srgbClr val="00B050">
              <a:alpha val="21000"/>
            </a:srgb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99" name="drawio2pptx:image: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38030" y="3355340"/>
            <a:ext cx="680085" cy="601980"/>
          </a:xfrm>
          <a:prstGeom prst="rect">
            <a:avLst/>
          </a:prstGeom>
        </p:spPr>
      </p:pic>
      <p:pic>
        <p:nvPicPr>
          <p:cNvPr id="205" name="drawio2pptx:image: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28835" y="2785110"/>
            <a:ext cx="692150" cy="608330"/>
          </a:xfrm>
          <a:prstGeom prst="rect">
            <a:avLst/>
          </a:prstGeom>
        </p:spPr>
      </p:pic>
      <p:sp>
        <p:nvSpPr>
          <p:cNvPr id="210" name="drawio2pptx:shape:88"/>
          <p:cNvSpPr/>
          <p:nvPr/>
        </p:nvSpPr>
        <p:spPr>
          <a:xfrm>
            <a:off x="8576293" y="2857596"/>
            <a:ext cx="1255375" cy="1932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>
                <a:solidFill>
                  <a:srgbClr val="050505"/>
                </a:solidFill>
                <a:latin typeface="Arial Narrow" panose="020B0606020202030204"/>
              </a:rPr>
              <a:t>Correct </a:t>
            </a:r>
            <a:r>
              <a:rPr lang="en-US" sz="1320" b="1" i="0" u="none">
                <a:solidFill>
                  <a:srgbClr val="050505"/>
                </a:solidFill>
                <a:latin typeface="Arial Narrow" panose="020B0606020202030204"/>
              </a:rPr>
              <a:t>Traces</a:t>
            </a:r>
            <a:endParaRPr lang="en-US" sz="1320" b="1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sp>
        <p:nvSpPr>
          <p:cNvPr id="211" name="drawio2pptx:shape:88"/>
          <p:cNvSpPr/>
          <p:nvPr/>
        </p:nvSpPr>
        <p:spPr>
          <a:xfrm>
            <a:off x="8575658" y="3076036"/>
            <a:ext cx="1255375" cy="1932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20" b="1" i="0" u="none">
                <a:solidFill>
                  <a:srgbClr val="050505"/>
                </a:solidFill>
                <a:latin typeface="Arial Narrow" panose="020B0606020202030204"/>
              </a:rPr>
              <a:t>Label Consistency</a:t>
            </a:r>
            <a:endParaRPr lang="en-US" sz="1320" b="1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sp>
        <p:nvSpPr>
          <p:cNvPr id="212" name="drawio2pptx:shape:48"/>
          <p:cNvSpPr/>
          <p:nvPr/>
        </p:nvSpPr>
        <p:spPr>
          <a:xfrm>
            <a:off x="11229975" y="2954655"/>
            <a:ext cx="74231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Clipped</a:t>
            </a:r>
            <a:endParaRPr lang="en-US" sz="14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13" name="drawio2pptx:shape:88"/>
          <p:cNvSpPr/>
          <p:nvPr/>
        </p:nvSpPr>
        <p:spPr>
          <a:xfrm>
            <a:off x="8575658" y="3443701"/>
            <a:ext cx="1255375" cy="1932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20" b="1" i="0" u="none">
                <a:solidFill>
                  <a:srgbClr val="050505"/>
                </a:solidFill>
                <a:latin typeface="Arial Narrow" panose="020B0606020202030204"/>
              </a:rPr>
              <a:t>Length Penalty</a:t>
            </a:r>
            <a:endParaRPr lang="en-US" sz="1320" b="1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sp>
        <p:nvSpPr>
          <p:cNvPr id="215" name="drawio2pptx:shape:88"/>
          <p:cNvSpPr/>
          <p:nvPr/>
        </p:nvSpPr>
        <p:spPr>
          <a:xfrm>
            <a:off x="8576293" y="3669126"/>
            <a:ext cx="1255375" cy="1932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20" b="1" i="0" u="none">
                <a:solidFill>
                  <a:srgbClr val="050505"/>
                </a:solidFill>
                <a:latin typeface="Arial Narrow" panose="020B0606020202030204"/>
              </a:rPr>
              <a:t>Format Violation</a:t>
            </a:r>
            <a:endParaRPr lang="en-US" sz="1320" b="1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grpSp>
        <p:nvGrpSpPr>
          <p:cNvPr id="222" name="组合 221"/>
          <p:cNvGrpSpPr/>
          <p:nvPr/>
        </p:nvGrpSpPr>
        <p:grpSpPr>
          <a:xfrm>
            <a:off x="10980420" y="3051175"/>
            <a:ext cx="179070" cy="506443"/>
            <a:chOff x="17263" y="4686"/>
            <a:chExt cx="278" cy="1568"/>
          </a:xfrm>
        </p:grpSpPr>
        <p:cxnSp>
          <p:nvCxnSpPr>
            <p:cNvPr id="217" name="曲线连接符 216"/>
            <p:cNvCxnSpPr/>
            <p:nvPr>
              <p:custDataLst>
                <p:tags r:id="rId19"/>
              </p:custDataLst>
            </p:nvPr>
          </p:nvCxnSpPr>
          <p:spPr>
            <a:xfrm flipV="1">
              <a:off x="17263" y="5791"/>
              <a:ext cx="278" cy="463"/>
            </a:xfrm>
            <a:prstGeom prst="curvedConnector2">
              <a:avLst/>
            </a:prstGeom>
            <a:ln w="50800">
              <a:solidFill>
                <a:schemeClr val="accent2">
                  <a:lumMod val="75000"/>
                </a:schemeClr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8" name="曲线连接符 217"/>
            <p:cNvCxnSpPr/>
            <p:nvPr>
              <p:custDataLst>
                <p:tags r:id="rId20"/>
              </p:custDataLst>
            </p:nvPr>
          </p:nvCxnSpPr>
          <p:spPr>
            <a:xfrm>
              <a:off x="17263" y="4686"/>
              <a:ext cx="278" cy="463"/>
            </a:xfrm>
            <a:prstGeom prst="curvedConnector2">
              <a:avLst/>
            </a:prstGeom>
            <a:ln w="50800">
              <a:solidFill>
                <a:schemeClr val="accent6">
                  <a:lumMod val="75000"/>
                </a:schemeClr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223" name="图片 2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2070" y="2950845"/>
            <a:ext cx="858520" cy="337820"/>
          </a:xfrm>
          <a:prstGeom prst="rect">
            <a:avLst/>
          </a:prstGeom>
        </p:spPr>
      </p:pic>
      <p:pic>
        <p:nvPicPr>
          <p:cNvPr id="225" name="图片 2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97465" y="3464560"/>
            <a:ext cx="866140" cy="360680"/>
          </a:xfrm>
          <a:prstGeom prst="rect">
            <a:avLst/>
          </a:prstGeom>
        </p:spPr>
      </p:pic>
      <p:pic>
        <p:nvPicPr>
          <p:cNvPr id="226" name="Picture 225" descr="topoprm_distillation_formula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77400" y="5063490"/>
            <a:ext cx="2150110" cy="188595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6" name="drawio2pptx:shape:15"/>
          <p:cNvSpPr/>
          <p:nvPr/>
        </p:nvSpPr>
        <p:spPr>
          <a:xfrm>
            <a:off x="4163060" y="3415665"/>
            <a:ext cx="3617595" cy="1706245"/>
          </a:xfrm>
          <a:prstGeom prst="roundRect">
            <a:avLst>
              <a:gd name="adj" fmla="val 6955"/>
            </a:avLst>
          </a:prstGeom>
          <a:solidFill>
            <a:schemeClr val="accent5">
              <a:lumMod val="20000"/>
              <a:lumOff val="80000"/>
              <a:alpha val="17000"/>
            </a:schemeClr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drawio2pptx:shape:2"/>
          <p:cNvSpPr/>
          <p:nvPr/>
        </p:nvSpPr>
        <p:spPr>
          <a:xfrm>
            <a:off x="5873795" y="4442460"/>
            <a:ext cx="1800000" cy="468000"/>
          </a:xfrm>
          <a:prstGeom prst="rect">
            <a:avLst/>
          </a:prstGeom>
          <a:solidFill>
            <a:srgbClr val="FACEC9"/>
          </a:solidFill>
          <a:ln w="19050">
            <a:solidFill>
              <a:srgbClr val="F8C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drawio2pptx:shape:2"/>
          <p:cNvSpPr/>
          <p:nvPr/>
        </p:nvSpPr>
        <p:spPr>
          <a:xfrm>
            <a:off x="9525" y="0"/>
            <a:ext cx="12171680" cy="1274445"/>
          </a:xfrm>
          <a:prstGeom prst="rect">
            <a:avLst/>
          </a:prstGeom>
          <a:solidFill>
            <a:srgbClr val="F3F2F2"/>
          </a:solidFill>
          <a:ln w="9525">
            <a:solidFill>
              <a:srgbClr val="F2F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rawio2pptx:shape:4"/>
          <p:cNvSpPr/>
          <p:nvPr/>
        </p:nvSpPr>
        <p:spPr>
          <a:xfrm>
            <a:off x="1304925" y="1802130"/>
            <a:ext cx="2756535" cy="3302635"/>
          </a:xfrm>
          <a:prstGeom prst="rect">
            <a:avLst/>
          </a:prstGeom>
          <a:solidFill>
            <a:srgbClr val="D4EBF2"/>
          </a:solidFill>
          <a:ln w="19050">
            <a:solidFill>
              <a:srgbClr val="74A1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rawio2pptx:shape:6"/>
          <p:cNvSpPr/>
          <p:nvPr/>
        </p:nvSpPr>
        <p:spPr>
          <a:xfrm>
            <a:off x="1390650" y="2059305"/>
            <a:ext cx="2565400" cy="1686560"/>
          </a:xfrm>
          <a:prstGeom prst="rect">
            <a:avLst/>
          </a:prstGeom>
          <a:solidFill>
            <a:srgbClr val="E3EFF3"/>
          </a:solidFill>
          <a:ln w="19050">
            <a:solidFill>
              <a:srgbClr val="426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rawio2pptx:shape:26"/>
          <p:cNvSpPr/>
          <p:nvPr/>
        </p:nvSpPr>
        <p:spPr>
          <a:xfrm>
            <a:off x="1306195" y="1809115"/>
            <a:ext cx="2754630" cy="259715"/>
          </a:xfrm>
          <a:prstGeom prst="rect">
            <a:avLst/>
          </a:prstGeom>
          <a:noFill/>
          <a:ln w="19050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0E9F3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DAG Scorer</a:t>
            </a:r>
            <a:endParaRPr lang="en-US" altLang="zh-CN" sz="20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2" name="drawio2pptx:shape:34"/>
          <p:cNvSpPr/>
          <p:nvPr/>
        </p:nvSpPr>
        <p:spPr>
          <a:xfrm>
            <a:off x="1485900" y="2138680"/>
            <a:ext cx="238125" cy="228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D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8" name="drawio2pptx:image:4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" y="2373630"/>
            <a:ext cx="838200" cy="990600"/>
          </a:xfrm>
          <a:prstGeom prst="rect">
            <a:avLst/>
          </a:prstGeom>
        </p:spPr>
      </p:pic>
      <p:pic>
        <p:nvPicPr>
          <p:cNvPr id="50" name="drawio2pptx:image: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030" y="1769745"/>
            <a:ext cx="790575" cy="685800"/>
          </a:xfrm>
          <a:prstGeom prst="rect">
            <a:avLst/>
          </a:prstGeom>
        </p:spPr>
      </p:pic>
      <p:pic>
        <p:nvPicPr>
          <p:cNvPr id="62" name="drawio2pptx:image: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3155"/>
            <a:ext cx="304800" cy="571500"/>
          </a:xfrm>
          <a:prstGeom prst="rect">
            <a:avLst/>
          </a:prstGeom>
        </p:spPr>
      </p:pic>
      <p:sp>
        <p:nvSpPr>
          <p:cNvPr id="76" name="drawio2pptx:connector:68"/>
          <p:cNvSpPr/>
          <p:nvPr/>
        </p:nvSpPr>
        <p:spPr>
          <a:xfrm flipV="1">
            <a:off x="10119995" y="2132330"/>
            <a:ext cx="647700" cy="76200"/>
          </a:xfrm>
          <a:custGeom>
            <a:avLst/>
            <a:gdLst/>
            <a:ahLst/>
            <a:cxnLst/>
            <a:rect l="l" t="t" r="r" b="b"/>
            <a:pathLst>
              <a:path w="54292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19050">
            <a:solidFill>
              <a:srgbClr val="03030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rawio2pptx:shape:90"/>
          <p:cNvSpPr/>
          <p:nvPr/>
        </p:nvSpPr>
        <p:spPr>
          <a:xfrm>
            <a:off x="0" y="0"/>
            <a:ext cx="4648200" cy="3244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  </a:t>
            </a:r>
            <a:r>
              <a:rPr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STAGE 1: S</a:t>
            </a:r>
            <a:r>
              <a:rPr lang="en-US"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upervised</a:t>
            </a:r>
            <a:r>
              <a:rPr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 F</a:t>
            </a:r>
            <a:r>
              <a:rPr lang="en-US"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ine</a:t>
            </a:r>
            <a:r>
              <a:rPr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-</a:t>
            </a:r>
            <a:r>
              <a:rPr lang="en-US"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tuning</a:t>
            </a:r>
            <a:r>
              <a:rPr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 (SFT)</a:t>
            </a:r>
            <a:endParaRPr sz="2400" b="1" i="0" u="none">
              <a:solidFill>
                <a:srgbClr val="0D0D11"/>
              </a:solidFill>
              <a:latin typeface="Arial Narrow Bold" panose="020B0606020202030204" charset="0"/>
              <a:cs typeface="Arial Narrow Bold" panose="020B0606020202030204" charset="0"/>
            </a:endParaRPr>
          </a:p>
        </p:txBody>
      </p:sp>
      <p:sp>
        <p:nvSpPr>
          <p:cNvPr id="103" name="drawio2pptx:shape:92"/>
          <p:cNvSpPr/>
          <p:nvPr/>
        </p:nvSpPr>
        <p:spPr>
          <a:xfrm>
            <a:off x="0" y="1310640"/>
            <a:ext cx="7801610" cy="3054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>
                <a:solidFill>
                  <a:srgbClr val="0D0D0D"/>
                </a:solidFill>
                <a:latin typeface="Arial Narrow Bold" panose="020B0606020202030204" charset="0"/>
                <a:cs typeface="Arial Narrow Bold" panose="020B0606020202030204" charset="0"/>
              </a:rPr>
              <a:t>  </a:t>
            </a:r>
            <a:r>
              <a:rPr sz="2400" b="1" i="0" u="none">
                <a:solidFill>
                  <a:srgbClr val="0D0D0D"/>
                </a:solidFill>
                <a:latin typeface="Arial Narrow Bold" panose="020B0606020202030204" charset="0"/>
                <a:cs typeface="Arial Narrow Bold" panose="020B0606020202030204" charset="0"/>
              </a:rPr>
              <a:t>STAGE 2: TopoPRM </a:t>
            </a:r>
            <a:r>
              <a:rPr lang="en-US" sz="2400" b="1" i="0" u="none">
                <a:solidFill>
                  <a:srgbClr val="0D0D0D"/>
                </a:solidFill>
                <a:latin typeface="Arial Narrow Bold" panose="020B0606020202030204" charset="0"/>
                <a:cs typeface="Arial Narrow Bold" panose="020B0606020202030204" charset="0"/>
              </a:rPr>
              <a:t>Post-</a:t>
            </a:r>
            <a:r>
              <a:rPr sz="2400" b="1" i="0" u="none">
                <a:solidFill>
                  <a:srgbClr val="0D0D0D"/>
                </a:solidFill>
                <a:latin typeface="Arial Narrow Bold" panose="020B0606020202030204" charset="0"/>
                <a:cs typeface="Arial Narrow Bold" panose="020B0606020202030204" charset="0"/>
              </a:rPr>
              <a:t>T</a:t>
            </a:r>
            <a:r>
              <a:rPr lang="en-US" sz="2400" b="1" i="0" u="none">
                <a:solidFill>
                  <a:srgbClr val="0D0D0D"/>
                </a:solidFill>
                <a:latin typeface="Arial Narrow Bold" panose="020B0606020202030204" charset="0"/>
                <a:cs typeface="Arial Narrow Bold" panose="020B0606020202030204" charset="0"/>
              </a:rPr>
              <a:t>raining</a:t>
            </a:r>
            <a:endParaRPr lang="en-US" sz="2400" b="1" i="0" u="none">
              <a:solidFill>
                <a:srgbClr val="0D0D0D"/>
              </a:solidFill>
              <a:latin typeface="Arial Narrow Bold" panose="020B0606020202030204" charset="0"/>
              <a:cs typeface="Arial Narrow Bold" panose="020B0606020202030204" charset="0"/>
            </a:endParaRPr>
          </a:p>
        </p:txBody>
      </p:sp>
      <p:sp>
        <p:nvSpPr>
          <p:cNvPr id="106" name="drawio2pptx:shape:95"/>
          <p:cNvSpPr/>
          <p:nvPr/>
        </p:nvSpPr>
        <p:spPr>
          <a:xfrm>
            <a:off x="615950" y="605155"/>
            <a:ext cx="2765425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151519"/>
                </a:solidFill>
                <a:latin typeface="Arial Narrow" panose="020B0606020202030204"/>
              </a:rPr>
              <a:t>Structured Reasoning Data</a:t>
            </a:r>
            <a:endParaRPr sz="2000" b="0" i="0" u="none">
              <a:solidFill>
                <a:srgbClr val="151519"/>
              </a:solidFill>
              <a:latin typeface="Arial Narrow" panose="020B0606020202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D2125"/>
                </a:solidFill>
                <a:latin typeface="Arial Narrow" panose="020B0606020202030204"/>
                <a:sym typeface="+mn-ea"/>
              </a:rPr>
              <a:t>(Math Problems, Step-by-Step Solutions)</a:t>
            </a:r>
            <a:endParaRPr sz="2000" b="0" i="0" u="none">
              <a:solidFill>
                <a:srgbClr val="1D2125"/>
              </a:solidFill>
              <a:latin typeface="Arial Narrow" panose="020B0606020202030204"/>
            </a:endParaRPr>
          </a:p>
        </p:txBody>
      </p:sp>
      <p:sp>
        <p:nvSpPr>
          <p:cNvPr id="127" name="drawio2pptx:shape:116"/>
          <p:cNvSpPr/>
          <p:nvPr/>
        </p:nvSpPr>
        <p:spPr>
          <a:xfrm>
            <a:off x="10592435" y="243205"/>
            <a:ext cx="1528445" cy="6051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System </a:t>
            </a: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Prompt</a:t>
            </a: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</a:t>
            </a:r>
            <a:endParaRPr sz="16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for Public Data</a:t>
            </a:r>
            <a:endParaRPr lang="en-US" sz="16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33" name="drawio2pptx:shape:122"/>
          <p:cNvSpPr/>
          <p:nvPr/>
        </p:nvSpPr>
        <p:spPr>
          <a:xfrm>
            <a:off x="1762125" y="2136140"/>
            <a:ext cx="19685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 u="none">
                <a:solidFill>
                  <a:srgbClr val="191D1D"/>
                </a:solidFill>
                <a:latin typeface="Arial Narrow" panose="020B0606020202030204"/>
              </a:rPr>
              <a:t>Step Segmentation &amp; Parsing </a:t>
            </a:r>
            <a:endParaRPr lang="en-US" sz="1400" b="1" i="0" u="none">
              <a:solidFill>
                <a:srgbClr val="191D1D"/>
              </a:solidFill>
              <a:latin typeface="Arial Narrow" panose="020B0606020202030204"/>
            </a:endParaRPr>
          </a:p>
        </p:txBody>
      </p:sp>
      <p:sp>
        <p:nvSpPr>
          <p:cNvPr id="134" name="drawio2pptx:shape:123"/>
          <p:cNvSpPr/>
          <p:nvPr/>
        </p:nvSpPr>
        <p:spPr>
          <a:xfrm>
            <a:off x="10755630" y="2572385"/>
            <a:ext cx="1162050" cy="3162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u="none">
                <a:solidFill>
                  <a:srgbClr val="292929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Topology-aware</a:t>
            </a:r>
            <a:endParaRPr sz="1400" b="1" u="none">
              <a:solidFill>
                <a:srgbClr val="292929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u="none">
                <a:solidFill>
                  <a:srgbClr val="292929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Reasoning Trace</a:t>
            </a:r>
            <a:endParaRPr sz="1400" b="1" u="none">
              <a:solidFill>
                <a:srgbClr val="292929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1" u="none">
                <a:solidFill>
                  <a:srgbClr val="292929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(Graph </a:t>
            </a:r>
            <a:r>
              <a:rPr lang="en-US" sz="1400" b="1" i="1" u="none">
                <a:solidFill>
                  <a:srgbClr val="292929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Thought)</a:t>
            </a:r>
            <a:endParaRPr lang="en-US" sz="1400" b="1" i="1" u="none">
              <a:solidFill>
                <a:srgbClr val="292929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33" name="drawio2pptx:shape:3"/>
          <p:cNvSpPr/>
          <p:nvPr/>
        </p:nvSpPr>
        <p:spPr>
          <a:xfrm>
            <a:off x="5873795" y="3986525"/>
            <a:ext cx="1800000" cy="468000"/>
          </a:xfrm>
          <a:prstGeom prst="rect">
            <a:avLst/>
          </a:prstGeom>
          <a:solidFill>
            <a:srgbClr val="D0EACC"/>
          </a:solidFill>
          <a:ln w="9525">
            <a:solidFill>
              <a:srgbClr val="CCE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55" name="drawio2pptx:shape:144"/>
          <p:cNvSpPr/>
          <p:nvPr/>
        </p:nvSpPr>
        <p:spPr>
          <a:xfrm>
            <a:off x="23495" y="1825625"/>
            <a:ext cx="1200150" cy="514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252121"/>
                </a:solidFill>
                <a:latin typeface="Arial Narrow" panose="020B0606020202030204"/>
              </a:rPr>
              <a:t>Reasoning</a:t>
            </a:r>
            <a:endParaRPr b="1" i="0" u="none">
              <a:solidFill>
                <a:srgbClr val="252121"/>
              </a:solidFill>
              <a:latin typeface="Arial Narrow" panose="020B0606020202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i="0" u="none">
                <a:solidFill>
                  <a:srgbClr val="252121"/>
                </a:solidFill>
                <a:latin typeface="Arial Narrow" panose="020B0606020202030204"/>
              </a:rPr>
              <a:t>Trace</a:t>
            </a:r>
            <a:endParaRPr lang="en-US" b="1" i="0" u="none">
              <a:solidFill>
                <a:srgbClr val="252121"/>
              </a:solidFill>
              <a:latin typeface="Arial Narrow" panose="020B0606020202030204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3981450" y="467360"/>
            <a:ext cx="1761490" cy="762000"/>
            <a:chOff x="6270" y="630"/>
            <a:chExt cx="2774" cy="1200"/>
          </a:xfrm>
        </p:grpSpPr>
        <p:sp>
          <p:nvSpPr>
            <p:cNvPr id="13" name="drawio2pptx:shape:10"/>
            <p:cNvSpPr/>
            <p:nvPr/>
          </p:nvSpPr>
          <p:spPr>
            <a:xfrm>
              <a:off x="6270" y="630"/>
              <a:ext cx="2775" cy="1200"/>
            </a:xfrm>
            <a:prstGeom prst="rect">
              <a:avLst/>
            </a:prstGeom>
            <a:solidFill>
              <a:srgbClr val="C9EBE9"/>
            </a:solidFill>
            <a:ln w="19050">
              <a:solidFill>
                <a:srgbClr val="07050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2" name="drawio2pptx:image:44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0" y="678"/>
              <a:ext cx="750" cy="750"/>
            </a:xfrm>
            <a:prstGeom prst="rect">
              <a:avLst/>
            </a:prstGeom>
          </p:spPr>
        </p:pic>
        <p:sp>
          <p:nvSpPr>
            <p:cNvPr id="139" name="drawio2pptx:shape:128"/>
            <p:cNvSpPr/>
            <p:nvPr/>
          </p:nvSpPr>
          <p:spPr>
            <a:xfrm>
              <a:off x="6395" y="678"/>
              <a:ext cx="1705" cy="111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i="0" u="none">
                  <a:solidFill>
                    <a:srgbClr val="192121"/>
                  </a:solidFill>
                  <a:latin typeface="Arial Narrow" panose="020B0606020202030204"/>
                </a:rPr>
                <a:t>LoRA</a:t>
              </a:r>
              <a:endParaRPr sz="2000" b="0" i="0" u="none">
                <a:solidFill>
                  <a:srgbClr val="192121"/>
                </a:solidFill>
                <a:latin typeface="Arial Narrow" panose="020B0606020202030204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u="none">
                  <a:solidFill>
                    <a:srgbClr val="192121"/>
                  </a:solidFill>
                  <a:latin typeface="Arial Narrow" panose="020B0606020202030204"/>
                </a:rPr>
                <a:t>Fine-tuning</a:t>
              </a:r>
              <a:endParaRPr lang="en-US" sz="2000" b="0" i="0" u="none">
                <a:solidFill>
                  <a:srgbClr val="192121"/>
                </a:solidFill>
                <a:latin typeface="Arial Narrow" panose="020B0606020202030204"/>
              </a:endParaRPr>
            </a:p>
          </p:txBody>
        </p:sp>
        <p:sp>
          <p:nvSpPr>
            <p:cNvPr id="190" name="drawio2pptx:shape:179"/>
            <p:cNvSpPr/>
            <p:nvPr/>
          </p:nvSpPr>
          <p:spPr>
            <a:xfrm>
              <a:off x="8190" y="1432"/>
              <a:ext cx="585" cy="28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 u="none">
                  <a:solidFill>
                    <a:srgbClr val="151D1D"/>
                  </a:solidFill>
                  <a:latin typeface="Arial Narrow" panose="020B0606020202030204" charset="0"/>
                  <a:cs typeface="Arial Narrow" panose="020B0606020202030204" charset="0"/>
                </a:rPr>
                <a:t>LLM</a:t>
              </a:r>
              <a:endParaRPr b="1" i="0" u="none">
                <a:solidFill>
                  <a:srgbClr val="151D1D"/>
                </a:solidFill>
                <a:latin typeface="Arial Narrow" panose="020B0606020202030204" charset="0"/>
                <a:cs typeface="Arial Narrow" panose="020B0606020202030204" charset="0"/>
              </a:endParaRPr>
            </a:p>
          </p:txBody>
        </p:sp>
      </p:grpSp>
      <p:pic>
        <p:nvPicPr>
          <p:cNvPr id="40" name="图片 39" descr="doc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85" y="470535"/>
            <a:ext cx="428625" cy="428625"/>
          </a:xfrm>
          <a:prstGeom prst="rect">
            <a:avLst/>
          </a:prstGeom>
        </p:spPr>
      </p:pic>
      <p:sp>
        <p:nvSpPr>
          <p:cNvPr id="5" name="drawio2pptx:shape:98"/>
          <p:cNvSpPr/>
          <p:nvPr/>
        </p:nvSpPr>
        <p:spPr>
          <a:xfrm>
            <a:off x="7636510" y="1875155"/>
            <a:ext cx="1762125" cy="3054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>
                <a:solidFill>
                  <a:srgbClr val="111115"/>
                </a:solidFill>
                <a:latin typeface="Georgia" panose="02040502050405090303"/>
              </a:rPr>
              <a:t>Teacher</a:t>
            </a:r>
            <a:endParaRPr lang="en-US" b="0" i="0" u="none">
              <a:solidFill>
                <a:srgbClr val="111115"/>
              </a:solidFill>
              <a:latin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>
                <a:solidFill>
                  <a:srgbClr val="111115"/>
                </a:solidFill>
                <a:latin typeface="Georgia" panose="02040502050405090303"/>
              </a:rPr>
              <a:t>Policy</a:t>
            </a:r>
            <a:endParaRPr lang="en-US" b="0" i="0" u="none">
              <a:solidFill>
                <a:srgbClr val="111115"/>
              </a:solidFill>
              <a:latin typeface="Georgia" panose="02040502050405090303"/>
            </a:endParaRPr>
          </a:p>
        </p:txBody>
      </p:sp>
      <p:sp>
        <p:nvSpPr>
          <p:cNvPr id="65" name="矩形标注 64"/>
          <p:cNvSpPr/>
          <p:nvPr/>
        </p:nvSpPr>
        <p:spPr>
          <a:xfrm>
            <a:off x="8041640" y="160020"/>
            <a:ext cx="2565400" cy="678180"/>
          </a:xfrm>
          <a:prstGeom prst="wedgeRectCallout">
            <a:avLst>
              <a:gd name="adj1" fmla="val -70470"/>
              <a:gd name="adj2" fmla="val 38483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292929"/>
                </a:solidFill>
                <a:latin typeface="Arial Narrow" panose="020B0606020202030204"/>
                <a:sym typeface="+mn-ea"/>
              </a:rPr>
              <a:t>Structured Format</a:t>
            </a:r>
            <a:endParaRPr sz="2000" b="0" i="0" u="none">
              <a:solidFill>
                <a:srgbClr val="292929"/>
              </a:solidFill>
              <a:latin typeface="Arial Narrow" panose="020B0606020202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31312D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&lt;</a:t>
            </a:r>
            <a:r>
              <a:rPr lang="en-US" sz="2000" b="1" i="1">
                <a:solidFill>
                  <a:srgbClr val="31312D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think</a:t>
            </a:r>
            <a:r>
              <a:rPr sz="2000" b="1" i="1">
                <a:solidFill>
                  <a:srgbClr val="31312D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&gt; ...&lt;answer&gt;</a:t>
            </a:r>
            <a:r>
              <a:rPr lang="en-US" sz="2000" b="1" i="1">
                <a:solidFill>
                  <a:srgbClr val="31312D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...</a:t>
            </a:r>
            <a:endParaRPr lang="en-US" altLang="en-US" sz="2000" b="1" i="1" u="none">
              <a:solidFill>
                <a:srgbClr val="31312D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3325495" y="762000"/>
            <a:ext cx="655955" cy="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>
            <a:off x="5772150" y="772160"/>
            <a:ext cx="861695" cy="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2" name="圆角矩形 141"/>
          <p:cNvSpPr/>
          <p:nvPr/>
        </p:nvSpPr>
        <p:spPr>
          <a:xfrm>
            <a:off x="27940" y="1671320"/>
            <a:ext cx="7800975" cy="3510280"/>
          </a:xfrm>
          <a:prstGeom prst="roundRect">
            <a:avLst>
              <a:gd name="adj" fmla="val 3654"/>
            </a:avLst>
          </a:prstGeom>
          <a:noFill/>
          <a:ln w="19050">
            <a:solidFill>
              <a:schemeClr val="accent3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9" name="drawio2pptx:shape:34"/>
          <p:cNvSpPr/>
          <p:nvPr/>
        </p:nvSpPr>
        <p:spPr>
          <a:xfrm>
            <a:off x="1485900" y="2481580"/>
            <a:ext cx="238125" cy="228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D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0" name="drawio2pptx:shape:15"/>
          <p:cNvSpPr/>
          <p:nvPr/>
        </p:nvSpPr>
        <p:spPr>
          <a:xfrm>
            <a:off x="4162425" y="1802130"/>
            <a:ext cx="3617595" cy="1544955"/>
          </a:xfrm>
          <a:prstGeom prst="roundRect">
            <a:avLst>
              <a:gd name="adj" fmla="val 694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文本框 230"/>
          <p:cNvSpPr txBox="1"/>
          <p:nvPr/>
        </p:nvSpPr>
        <p:spPr>
          <a:xfrm>
            <a:off x="4106545" y="1807845"/>
            <a:ext cx="3695065" cy="285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lnSpc>
                <a:spcPct val="80000"/>
              </a:lnSpc>
            </a:pPr>
            <a:r>
              <a:rPr lang="en-US" altLang="zh-CN" sz="2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Choquet Reward Aggregation</a:t>
            </a: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grpSp>
        <p:nvGrpSpPr>
          <p:cNvPr id="590" name="组合 589"/>
          <p:cNvGrpSpPr/>
          <p:nvPr/>
        </p:nvGrpSpPr>
        <p:grpSpPr>
          <a:xfrm>
            <a:off x="4180205" y="2395855"/>
            <a:ext cx="3553460" cy="536575"/>
            <a:chOff x="6583" y="3689"/>
            <a:chExt cx="5806" cy="92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4" name="drawio2pptx:shape:105"/>
                <p:cNvSpPr/>
                <p:nvPr/>
              </p:nvSpPr>
              <p:spPr>
                <a:xfrm>
                  <a:off x="6583" y="3689"/>
                  <a:ext cx="5806" cy="7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total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=(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𝑤</m:t>
                            </m:r>
                          </m:e>
                          <m:sub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𝑜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·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ou</m:t>
                            </m:r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t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+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𝑤</m:t>
                            </m:r>
                          </m:e>
                          <m:sub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𝑓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·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fmt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+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𝑤</m:t>
                            </m:r>
                          </m:e>
                          <m:sub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𝐼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·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𝑅</m:t>
                            </m:r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len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)</m:t>
                        </m:r>
                      </m:oMath>
                    </m:oMathPara>
                  </a14:m>
                  <a:endParaRPr sz="1200"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endParaRPr>
                </a:p>
              </p:txBody>
            </p:sp>
          </mc:Choice>
          <mc:Fallback>
            <p:sp>
              <p:nvSpPr>
                <p:cNvPr id="234" name="drawio2pptx:shape:1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3" y="3689"/>
                  <a:ext cx="5806" cy="737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" name="drawio2pptx:shape:110"/>
                <p:cNvSpPr/>
                <p:nvPr/>
              </p:nvSpPr>
              <p:spPr>
                <a:xfrm>
                  <a:off x="6603" y="4238"/>
                  <a:ext cx="5785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·</m:t>
                        </m:r>
                        <m:r>
                          <a:rPr lang="en-US"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 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+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·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000000"/>
                                </a:solidFill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000000"/>
                                </a:solidFill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  <m:t>topo</m:t>
                            </m:r>
                          </m:sub>
                        </m:sSub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+(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)·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000000"/>
                                </a:solidFill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000000"/>
                                </a:solidFill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  <m:t>cont</m:t>
                            </m:r>
                          </m:sub>
                        </m:sSub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)</m:t>
                        </m:r>
                      </m:oMath>
                    </m:oMathPara>
                  </a14:m>
                  <a:endParaRPr sz="120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</a:endParaRPr>
                </a:p>
              </p:txBody>
            </p:sp>
          </mc:Choice>
          <mc:Fallback>
            <p:sp>
              <p:nvSpPr>
                <p:cNvPr id="235" name="drawio2pptx:shape: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3" y="4238"/>
                  <a:ext cx="5785" cy="38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8" name="组合 237"/>
          <p:cNvGrpSpPr/>
          <p:nvPr/>
        </p:nvGrpSpPr>
        <p:grpSpPr>
          <a:xfrm>
            <a:off x="9195435" y="1748155"/>
            <a:ext cx="904875" cy="861695"/>
            <a:chOff x="0" y="9398"/>
            <a:chExt cx="1425" cy="1357"/>
          </a:xfrm>
        </p:grpSpPr>
        <p:pic>
          <p:nvPicPr>
            <p:cNvPr id="236" name="drawio2pptx:image:45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8" y="9398"/>
              <a:ext cx="660" cy="720"/>
            </a:xfrm>
            <a:prstGeom prst="rect">
              <a:avLst/>
            </a:prstGeom>
          </p:spPr>
        </p:pic>
        <p:sp>
          <p:nvSpPr>
            <p:cNvPr id="237" name="drawio2pptx:shape:70"/>
            <p:cNvSpPr/>
            <p:nvPr/>
          </p:nvSpPr>
          <p:spPr>
            <a:xfrm>
              <a:off x="0" y="10380"/>
              <a:ext cx="1425" cy="3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u="none">
                  <a:solidFill>
                    <a:srgbClr val="090D1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Large</a:t>
              </a:r>
              <a:endParaRPr lang="en-US"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u="none">
                  <a:solidFill>
                    <a:srgbClr val="090D1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Model</a:t>
              </a:r>
              <a:endParaRPr lang="en-US"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9275445" y="3984625"/>
            <a:ext cx="895350" cy="1000125"/>
            <a:chOff x="1816" y="9704"/>
            <a:chExt cx="1410" cy="1575"/>
          </a:xfrm>
        </p:grpSpPr>
        <p:pic>
          <p:nvPicPr>
            <p:cNvPr id="239" name="drawio2pptx:image:46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65" y="9704"/>
              <a:ext cx="555" cy="630"/>
            </a:xfrm>
            <a:prstGeom prst="rect">
              <a:avLst/>
            </a:prstGeom>
          </p:spPr>
        </p:pic>
        <p:sp>
          <p:nvSpPr>
            <p:cNvPr id="240" name="drawio2pptx:shape:70"/>
            <p:cNvSpPr/>
            <p:nvPr/>
          </p:nvSpPr>
          <p:spPr>
            <a:xfrm>
              <a:off x="1816" y="10470"/>
              <a:ext cx="1410" cy="80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u="none">
                  <a:solidFill>
                    <a:srgbClr val="090D1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Distilled</a:t>
              </a:r>
              <a:br>
                <a:rPr lang="en-US" sz="2000" b="0" i="0" u="none">
                  <a:solidFill>
                    <a:srgbClr val="090D1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</a:br>
              <a:r>
                <a:rPr lang="en-US" sz="2000" b="0" i="0" u="none">
                  <a:solidFill>
                    <a:srgbClr val="090D1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Student</a:t>
              </a:r>
              <a:endParaRPr lang="en-US"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pic>
        <p:nvPicPr>
          <p:cNvPr id="249" name="drawio2pptx:image: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84915" y="1708785"/>
            <a:ext cx="695960" cy="594360"/>
          </a:xfrm>
          <a:prstGeom prst="rect">
            <a:avLst/>
          </a:prstGeom>
        </p:spPr>
      </p:pic>
      <p:sp>
        <p:nvSpPr>
          <p:cNvPr id="250" name="drawio2pptx:shape:92"/>
          <p:cNvSpPr/>
          <p:nvPr/>
        </p:nvSpPr>
        <p:spPr>
          <a:xfrm>
            <a:off x="7800975" y="1310640"/>
            <a:ext cx="4381500" cy="3054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151111"/>
                </a:solidFill>
                <a:latin typeface="Arial Narrow Bold" panose="020B0606020202030204" charset="0"/>
                <a:cs typeface="Arial Narrow Bold" panose="020B0606020202030204" charset="0"/>
                <a:sym typeface="+mn-ea"/>
              </a:rPr>
              <a:t>  </a:t>
            </a:r>
            <a:r>
              <a:rPr sz="2400" b="1">
                <a:solidFill>
                  <a:srgbClr val="151111"/>
                </a:solidFill>
                <a:latin typeface="Arial Narrow Bold" panose="020B0606020202030204" charset="0"/>
                <a:cs typeface="Arial Narrow Bold" panose="020B0606020202030204" charset="0"/>
                <a:sym typeface="+mn-ea"/>
              </a:rPr>
              <a:t>STAGE 3: </a:t>
            </a:r>
            <a:r>
              <a:rPr lang="en-US" sz="2400" b="1">
                <a:solidFill>
                  <a:srgbClr val="151111"/>
                </a:solidFill>
                <a:latin typeface="Arial Narrow Bold" panose="020B0606020202030204" charset="0"/>
                <a:cs typeface="Arial Narrow Bold" panose="020B0606020202030204" charset="0"/>
                <a:sym typeface="+mn-ea"/>
              </a:rPr>
              <a:t>Reasoning Distillation</a:t>
            </a:r>
            <a:endParaRPr lang="en-US" sz="2400" b="1" i="0" u="none">
              <a:solidFill>
                <a:srgbClr val="0D0D0D"/>
              </a:solidFill>
              <a:latin typeface="Arial Narrow Bold" panose="020B0606020202030204" charset="0"/>
              <a:cs typeface="Arial Narrow Bold" panose="020B0606020202030204" charset="0"/>
            </a:endParaRPr>
          </a:p>
        </p:txBody>
      </p:sp>
      <p:sp>
        <p:nvSpPr>
          <p:cNvPr id="251" name="drawio2pptx:shape:122"/>
          <p:cNvSpPr/>
          <p:nvPr/>
        </p:nvSpPr>
        <p:spPr>
          <a:xfrm>
            <a:off x="1762125" y="2481580"/>
            <a:ext cx="20193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rgbClr val="191D1D"/>
                </a:solidFill>
                <a:latin typeface="Arial Narrow" panose="020B0606020202030204"/>
                <a:sym typeface="+mn-ea"/>
              </a:rPr>
              <a:t>Implicit </a:t>
            </a:r>
            <a:r>
              <a:rPr lang="en-US" altLang="zh-CN" sz="1400" b="1" i="0" u="none">
                <a:solidFill>
                  <a:srgbClr val="191D1D"/>
                </a:solidFill>
                <a:latin typeface="Arial Narrow" panose="020B0606020202030204"/>
              </a:rPr>
              <a:t>Feature Extraction</a:t>
            </a:r>
            <a:endParaRPr lang="en-US" altLang="zh-CN" sz="1400" b="1" i="0" u="none">
              <a:solidFill>
                <a:srgbClr val="191D1D"/>
              </a:solidFill>
              <a:latin typeface="Arial Narrow" panose="020B0606020202030204"/>
            </a:endParaRPr>
          </a:p>
        </p:txBody>
      </p:sp>
      <p:sp>
        <p:nvSpPr>
          <p:cNvPr id="254" name="drawio2pptx:shape:34"/>
          <p:cNvSpPr/>
          <p:nvPr/>
        </p:nvSpPr>
        <p:spPr>
          <a:xfrm>
            <a:off x="1485900" y="2821940"/>
            <a:ext cx="238125" cy="228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D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56" name="drawio2pptx:image: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6975" y="996315"/>
            <a:ext cx="219710" cy="219710"/>
          </a:xfrm>
          <a:prstGeom prst="rect">
            <a:avLst/>
          </a:prstGeom>
        </p:spPr>
      </p:pic>
      <p:sp>
        <p:nvSpPr>
          <p:cNvPr id="257" name="drawio2pptx:shape:116"/>
          <p:cNvSpPr/>
          <p:nvPr/>
        </p:nvSpPr>
        <p:spPr>
          <a:xfrm>
            <a:off x="7726680" y="903605"/>
            <a:ext cx="1528445" cy="370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 u="none">
                <a:solidFill>
                  <a:srgbClr val="11111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Stable Behavior</a:t>
            </a:r>
            <a:endParaRPr lang="en-US" sz="1600" b="0" i="1" u="none">
              <a:solidFill>
                <a:srgbClr val="11111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9" name="drawio2pptx:shape:116"/>
          <p:cNvSpPr/>
          <p:nvPr/>
        </p:nvSpPr>
        <p:spPr>
          <a:xfrm>
            <a:off x="9617710" y="905510"/>
            <a:ext cx="2574290" cy="370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 u="none">
                <a:solidFill>
                  <a:srgbClr val="11111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Token-level Gradient Update</a:t>
            </a:r>
            <a:endParaRPr lang="en-US" sz="1600" b="0" i="1" u="none">
              <a:solidFill>
                <a:srgbClr val="11111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60" name="drawio2pptx:image: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8000" y="989965"/>
            <a:ext cx="219710" cy="219710"/>
          </a:xfrm>
          <a:prstGeom prst="rect">
            <a:avLst/>
          </a:prstGeom>
        </p:spPr>
      </p:pic>
      <p:sp>
        <p:nvSpPr>
          <p:cNvPr id="328" name="文本框 327"/>
          <p:cNvSpPr txBox="1"/>
          <p:nvPr/>
        </p:nvSpPr>
        <p:spPr>
          <a:xfrm>
            <a:off x="4162425" y="3364230"/>
            <a:ext cx="3618230" cy="337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GRPO with Choquet Reward</a:t>
            </a: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31" name="drawio2pptx:shape:138"/>
          <p:cNvSpPr/>
          <p:nvPr/>
        </p:nvSpPr>
        <p:spPr>
          <a:xfrm>
            <a:off x="10013950" y="1999456"/>
            <a:ext cx="83829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25" b="1" i="0" u="none">
                <a:solidFill>
                  <a:srgbClr val="2D1D15"/>
                </a:solidFill>
                <a:latin typeface="Arial Narrow" panose="020B0606020202030204"/>
              </a:rPr>
              <a:t>Rollout</a:t>
            </a:r>
            <a:endParaRPr lang="en-US" sz="1425" b="1" i="0" u="none">
              <a:solidFill>
                <a:srgbClr val="2D1D15"/>
              </a:solidFill>
              <a:latin typeface="Arial Narrow" panose="020B0606020202030204"/>
            </a:endParaRPr>
          </a:p>
        </p:txBody>
      </p:sp>
      <p:sp>
        <p:nvSpPr>
          <p:cNvPr id="394" name="drawio2pptx:shape:82"/>
          <p:cNvSpPr/>
          <p:nvPr/>
        </p:nvSpPr>
        <p:spPr>
          <a:xfrm>
            <a:off x="6233160" y="4096385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+1.0</a:t>
            </a:r>
            <a:endParaRPr sz="1200" i="0" u="none">
              <a:solidFill>
                <a:srgbClr val="1D25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95" name="drawio2pptx:shape:83"/>
          <p:cNvSpPr/>
          <p:nvPr/>
        </p:nvSpPr>
        <p:spPr>
          <a:xfrm>
            <a:off x="6236335" y="4239260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+0.6</a:t>
            </a:r>
            <a:endParaRPr sz="1200" i="0" u="none">
              <a:solidFill>
                <a:srgbClr val="050905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98" name="drawio2pptx:shape:87"/>
          <p:cNvSpPr/>
          <p:nvPr/>
        </p:nvSpPr>
        <p:spPr>
          <a:xfrm>
            <a:off x="6227445" y="3957796"/>
            <a:ext cx="5619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+1.2</a:t>
            </a:r>
            <a:endParaRPr sz="1200" i="0" u="none">
              <a:solidFill>
                <a:srgbClr val="01050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26" name="drawio2pptx:image:3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1036" y="3947928"/>
            <a:ext cx="749968" cy="553953"/>
          </a:xfrm>
          <a:prstGeom prst="rect">
            <a:avLst/>
          </a:prstGeom>
        </p:spPr>
      </p:pic>
      <p:pic>
        <p:nvPicPr>
          <p:cNvPr id="427" name="drawio2pptx:image:4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31965" y="4408170"/>
            <a:ext cx="756285" cy="536575"/>
          </a:xfrm>
          <a:prstGeom prst="rect">
            <a:avLst/>
          </a:prstGeom>
        </p:spPr>
      </p:pic>
      <p:sp>
        <p:nvSpPr>
          <p:cNvPr id="439" name="drawio2pptx:shape:82"/>
          <p:cNvSpPr/>
          <p:nvPr/>
        </p:nvSpPr>
        <p:spPr>
          <a:xfrm>
            <a:off x="6233160" y="4544695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- 0</a:t>
            </a:r>
            <a:r>
              <a:rPr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.</a:t>
            </a:r>
            <a:r>
              <a:rPr lang="en-US"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6</a:t>
            </a:r>
            <a:endParaRPr lang="en-US" sz="1200" i="0" u="none">
              <a:solidFill>
                <a:srgbClr val="1D25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0" name="drawio2pptx:shape:83"/>
          <p:cNvSpPr/>
          <p:nvPr/>
        </p:nvSpPr>
        <p:spPr>
          <a:xfrm>
            <a:off x="6236335" y="4687570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- </a:t>
            </a:r>
            <a:r>
              <a:rPr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0.</a:t>
            </a:r>
            <a:r>
              <a:rPr lang="en-US"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4</a:t>
            </a:r>
            <a:endParaRPr lang="en-US" sz="1200" i="0" u="none">
              <a:solidFill>
                <a:srgbClr val="050905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1" name="drawio2pptx:shape:87"/>
          <p:cNvSpPr/>
          <p:nvPr/>
        </p:nvSpPr>
        <p:spPr>
          <a:xfrm>
            <a:off x="6227445" y="4406106"/>
            <a:ext cx="5619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- 0</a:t>
            </a:r>
            <a:r>
              <a:rPr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.</a:t>
            </a:r>
            <a:r>
              <a:rPr lang="en-US"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3</a:t>
            </a:r>
            <a:endParaRPr lang="en-US" sz="1200" i="0" u="none">
              <a:solidFill>
                <a:srgbClr val="01050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3" name="drawio2pptx:shape:82"/>
          <p:cNvSpPr/>
          <p:nvPr/>
        </p:nvSpPr>
        <p:spPr>
          <a:xfrm>
            <a:off x="5842000" y="4071620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C2</a:t>
            </a:r>
            <a:endParaRPr lang="en-US" sz="1200" i="0" u="none">
              <a:solidFill>
                <a:srgbClr val="1D25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4" name="drawio2pptx:shape:83"/>
          <p:cNvSpPr/>
          <p:nvPr/>
        </p:nvSpPr>
        <p:spPr>
          <a:xfrm>
            <a:off x="5845175" y="4231640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C3</a:t>
            </a:r>
            <a:endParaRPr lang="en-US" sz="1200" i="0" u="none">
              <a:solidFill>
                <a:srgbClr val="050905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5" name="drawio2pptx:shape:87"/>
          <p:cNvSpPr/>
          <p:nvPr/>
        </p:nvSpPr>
        <p:spPr>
          <a:xfrm>
            <a:off x="5842000" y="3955256"/>
            <a:ext cx="5619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C1</a:t>
            </a:r>
            <a:endParaRPr lang="en-US" sz="1200" i="0" u="none">
              <a:solidFill>
                <a:srgbClr val="01050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7" name="drawio2pptx:shape:82"/>
          <p:cNvSpPr/>
          <p:nvPr/>
        </p:nvSpPr>
        <p:spPr>
          <a:xfrm>
            <a:off x="5842000" y="4537075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C5</a:t>
            </a:r>
            <a:endParaRPr lang="en-US" sz="1200" i="0" u="none">
              <a:solidFill>
                <a:srgbClr val="1D25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8" name="drawio2pptx:shape:83"/>
          <p:cNvSpPr/>
          <p:nvPr/>
        </p:nvSpPr>
        <p:spPr>
          <a:xfrm>
            <a:off x="5845175" y="4679950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C6</a:t>
            </a:r>
            <a:endParaRPr lang="en-US" sz="1200" i="0" u="none">
              <a:solidFill>
                <a:srgbClr val="050905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9" name="drawio2pptx:shape:87"/>
          <p:cNvSpPr/>
          <p:nvPr/>
        </p:nvSpPr>
        <p:spPr>
          <a:xfrm>
            <a:off x="5836285" y="4398486"/>
            <a:ext cx="5619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C4</a:t>
            </a:r>
            <a:endParaRPr lang="en-US" sz="1200" i="0" u="none">
              <a:solidFill>
                <a:srgbClr val="01050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50" name="drawio2pptx:shape:122"/>
          <p:cNvSpPr/>
          <p:nvPr/>
        </p:nvSpPr>
        <p:spPr>
          <a:xfrm>
            <a:off x="1762125" y="2824480"/>
            <a:ext cx="204724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 u="none">
                <a:solidFill>
                  <a:srgbClr val="191D1D"/>
                </a:solidFill>
                <a:latin typeface="Arial Narrow" panose="020B0606020202030204"/>
              </a:rPr>
              <a:t>Build </a:t>
            </a:r>
            <a:r>
              <a:rPr lang="en-US" altLang="zh-CN" sz="1400" b="1" i="0" u="none">
                <a:solidFill>
                  <a:srgbClr val="191D1D"/>
                </a:solidFill>
                <a:latin typeface="Arial Narrow" panose="020B0606020202030204"/>
              </a:rPr>
              <a:t>Dependency</a:t>
            </a:r>
            <a:r>
              <a:rPr lang="en-US" sz="1400" b="1" i="0" u="none">
                <a:solidFill>
                  <a:srgbClr val="191D1D"/>
                </a:solidFill>
                <a:latin typeface="Arial Narrow" panose="020B0606020202030204"/>
              </a:rPr>
              <a:t> DAG</a:t>
            </a:r>
            <a:endParaRPr lang="en-US" sz="1400" b="1" i="0" u="none">
              <a:solidFill>
                <a:srgbClr val="191D1D"/>
              </a:solidFill>
              <a:latin typeface="Arial Narrow" panose="020B0606020202030204"/>
            </a:endParaRPr>
          </a:p>
        </p:txBody>
      </p:sp>
      <p:sp>
        <p:nvSpPr>
          <p:cNvPr id="451" name="drawio2pptx:shape:34"/>
          <p:cNvSpPr/>
          <p:nvPr/>
        </p:nvSpPr>
        <p:spPr>
          <a:xfrm>
            <a:off x="1485265" y="3155315"/>
            <a:ext cx="238125" cy="228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D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52" name="drawio2pptx:shape:122"/>
          <p:cNvSpPr/>
          <p:nvPr/>
        </p:nvSpPr>
        <p:spPr>
          <a:xfrm>
            <a:off x="1761490" y="3157855"/>
            <a:ext cx="131508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u="none">
                <a:solidFill>
                  <a:srgbClr val="191D1D"/>
                </a:solidFill>
                <a:latin typeface="Arial Narrow" panose="020B0606020202030204"/>
              </a:rPr>
              <a:t>Topology Diagnostics</a:t>
            </a:r>
            <a:endParaRPr lang="en-US" altLang="zh-CN" sz="1400" b="1" i="0" u="none">
              <a:solidFill>
                <a:srgbClr val="191D1D"/>
              </a:solidFill>
              <a:latin typeface="Arial Narrow" panose="020B0606020202030204"/>
            </a:endParaRPr>
          </a:p>
        </p:txBody>
      </p:sp>
      <p:sp>
        <p:nvSpPr>
          <p:cNvPr id="459" name="文本框 458"/>
          <p:cNvSpPr txBox="1"/>
          <p:nvPr/>
        </p:nvSpPr>
        <p:spPr>
          <a:xfrm>
            <a:off x="5895340" y="3703955"/>
            <a:ext cx="17843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2. Choquet reward</a:t>
            </a:r>
            <a:endParaRPr lang="en-US" altLang="zh-CN" sz="1400" b="1" i="1">
              <a:solidFill>
                <a:srgbClr val="191919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76" name="drawio2pptx:shape:57"/>
          <p:cNvSpPr/>
          <p:nvPr/>
        </p:nvSpPr>
        <p:spPr>
          <a:xfrm>
            <a:off x="3438525" y="4254817"/>
            <a:ext cx="220027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50" b="1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sp>
        <p:nvSpPr>
          <p:cNvPr id="477" name="drawio2pptx:shape:58"/>
          <p:cNvSpPr/>
          <p:nvPr/>
        </p:nvSpPr>
        <p:spPr>
          <a:xfrm>
            <a:off x="3457575" y="4545330"/>
            <a:ext cx="22669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50" b="0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sp>
        <p:nvSpPr>
          <p:cNvPr id="498" name="文本框 497"/>
          <p:cNvSpPr txBox="1"/>
          <p:nvPr/>
        </p:nvSpPr>
        <p:spPr>
          <a:xfrm>
            <a:off x="4220210" y="3716020"/>
            <a:ext cx="16192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400" b="1" i="1">
                <a:solidFill>
                  <a:srgbClr val="191919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1. GRPO</a:t>
            </a:r>
            <a:endParaRPr lang="en-US" sz="1400" b="1" i="1">
              <a:solidFill>
                <a:srgbClr val="191919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99" name="drawio2pptx:shape:7"/>
          <p:cNvSpPr/>
          <p:nvPr/>
        </p:nvSpPr>
        <p:spPr>
          <a:xfrm>
            <a:off x="4924425" y="4027170"/>
            <a:ext cx="864235" cy="1079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drawio2pptx:shape:7"/>
          <p:cNvSpPr/>
          <p:nvPr/>
        </p:nvSpPr>
        <p:spPr>
          <a:xfrm>
            <a:off x="4924425" y="4170045"/>
            <a:ext cx="720090" cy="1079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drawio2pptx:shape:7"/>
          <p:cNvSpPr/>
          <p:nvPr/>
        </p:nvSpPr>
        <p:spPr>
          <a:xfrm>
            <a:off x="4924425" y="4326255"/>
            <a:ext cx="431800" cy="1079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drawio2pptx:shape:7"/>
          <p:cNvSpPr/>
          <p:nvPr/>
        </p:nvSpPr>
        <p:spPr>
          <a:xfrm>
            <a:off x="4700905" y="4503420"/>
            <a:ext cx="215900" cy="107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3" name="图片 50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77990" y="4017010"/>
            <a:ext cx="858520" cy="33782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</p:pic>
      <p:pic>
        <p:nvPicPr>
          <p:cNvPr id="504" name="图片 50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70370" y="4472305"/>
            <a:ext cx="866140" cy="36068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</p:pic>
      <p:sp>
        <p:nvSpPr>
          <p:cNvPr id="505" name="drawio2pptx:shape:7"/>
          <p:cNvSpPr/>
          <p:nvPr/>
        </p:nvSpPr>
        <p:spPr>
          <a:xfrm>
            <a:off x="4485005" y="4645025"/>
            <a:ext cx="431800" cy="107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drawio2pptx:shape:7"/>
          <p:cNvSpPr/>
          <p:nvPr/>
        </p:nvSpPr>
        <p:spPr>
          <a:xfrm>
            <a:off x="4628515" y="4794250"/>
            <a:ext cx="288290" cy="107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0" name="图片 509" descr="QianJianTec1778770755479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20210" y="4106545"/>
            <a:ext cx="658495" cy="295275"/>
          </a:xfrm>
          <a:prstGeom prst="rect">
            <a:avLst/>
          </a:prstGeom>
        </p:spPr>
      </p:pic>
      <p:pic>
        <p:nvPicPr>
          <p:cNvPr id="468" name="drawio2pptx:image: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64660" y="4933950"/>
            <a:ext cx="190500" cy="170815"/>
          </a:xfrm>
          <a:prstGeom prst="rect">
            <a:avLst/>
          </a:prstGeom>
        </p:spPr>
      </p:pic>
      <p:sp>
        <p:nvSpPr>
          <p:cNvPr id="513" name="drawio2pptx:connector:63"/>
          <p:cNvSpPr/>
          <p:nvPr/>
        </p:nvSpPr>
        <p:spPr>
          <a:xfrm rot="16200000">
            <a:off x="4516755" y="4425315"/>
            <a:ext cx="885825" cy="78105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2025" y="0"/>
                </a:lnTo>
              </a:path>
            </a:pathLst>
          </a:custGeom>
          <a:noFill/>
          <a:ln w="12700">
            <a:solidFill>
              <a:srgbClr val="040404"/>
            </a:solidFill>
            <a:prstDash val="soli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文本框 513"/>
          <p:cNvSpPr txBox="1"/>
          <p:nvPr/>
        </p:nvSpPr>
        <p:spPr>
          <a:xfrm>
            <a:off x="4800600" y="4466590"/>
            <a:ext cx="11239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Wrong answer</a:t>
            </a:r>
            <a:endParaRPr sz="800" i="1">
              <a:solidFill>
                <a:srgbClr val="050505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with</a:t>
            </a:r>
            <a:r>
              <a:rPr lang="en-US"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high </a:t>
            </a:r>
            <a:endParaRPr sz="800" i="1">
              <a:solidFill>
                <a:srgbClr val="050505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structural reward</a:t>
            </a:r>
            <a:r>
              <a:rPr lang="en-US"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?</a:t>
            </a:r>
            <a:endParaRPr lang="en-US" sz="800" i="1">
              <a:solidFill>
                <a:srgbClr val="050505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grpSp>
        <p:nvGrpSpPr>
          <p:cNvPr id="551" name="组合 550"/>
          <p:cNvGrpSpPr/>
          <p:nvPr/>
        </p:nvGrpSpPr>
        <p:grpSpPr>
          <a:xfrm>
            <a:off x="2582545" y="3802901"/>
            <a:ext cx="1430020" cy="1184485"/>
            <a:chOff x="4459" y="6216"/>
            <a:chExt cx="2252" cy="2404"/>
          </a:xfrm>
        </p:grpSpPr>
        <p:sp>
          <p:nvSpPr>
            <p:cNvPr id="519" name="矩形 518"/>
            <p:cNvSpPr/>
            <p:nvPr/>
          </p:nvSpPr>
          <p:spPr>
            <a:xfrm>
              <a:off x="4459" y="6216"/>
              <a:ext cx="2163" cy="2404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9000"/>
              </a:schemeClr>
            </a:solidFill>
            <a:ln w="19050">
              <a:solidFill>
                <a:schemeClr val="accent6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7" name="文本框 516"/>
            <p:cNvSpPr txBox="1"/>
            <p:nvPr>
              <p:custDataLst>
                <p:tags r:id="rId20"/>
              </p:custDataLst>
            </p:nvPr>
          </p:nvSpPr>
          <p:spPr>
            <a:xfrm>
              <a:off x="4459" y="6216"/>
              <a:ext cx="2252" cy="1955"/>
            </a:xfrm>
            <a:prstGeom prst="rect">
              <a:avLst/>
            </a:prstGeom>
            <a:noFill/>
            <a:ln w="3175">
              <a:noFill/>
            </a:ln>
            <a:effectLst>
              <a:outerShdw blurRad="50800" dist="38100" dir="5400000" algn="t" rotWithShape="0">
                <a:prstClr val="black">
                  <a:alpha val="9000"/>
                </a:prstClr>
              </a:outerShdw>
            </a:effectLst>
          </p:spPr>
          <p:txBody>
            <a:bodyPr wrap="square" rtlCol="0">
              <a:noAutofit/>
            </a:bodyPr>
            <a:lstStyle/>
            <a:p>
              <a:pPr algn="l"/>
              <a:r>
                <a:rPr kumimoji="1" lang="en-US" altLang="zh-CN" sz="900" b="1" dirty="0">
                  <a:solidFill>
                    <a:schemeClr val="accent5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Example=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[{"step_id":1,"claims":{...},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"raw":{...}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,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"normed":{...}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,"edges":{2,3,4},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"weights":{...}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,"dep_type":{...},"evidence":{...},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"expr":{...}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,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"claim":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step4 </a:t>
              </a:r>
              <a:r>
                <a:rPr lang="en-US" altLang="zh-CN" sz="900" b="1" dirty="0">
                  <a:solidFill>
                    <a:schemeClr val="accent1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reuses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 the parity argument from step 1\"}]</a:t>
              </a:r>
              <a:endParaRPr lang="en-US" altLang="zh-CN" sz="90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638" name="组合 637"/>
          <p:cNvGrpSpPr/>
          <p:nvPr/>
        </p:nvGrpSpPr>
        <p:grpSpPr>
          <a:xfrm>
            <a:off x="6819265" y="2952000"/>
            <a:ext cx="854710" cy="295275"/>
            <a:chOff x="10797" y="4685"/>
            <a:chExt cx="1346" cy="465"/>
          </a:xfrm>
        </p:grpSpPr>
        <p:sp>
          <p:nvSpPr>
            <p:cNvPr id="530" name="圆角矩形 529"/>
            <p:cNvSpPr/>
            <p:nvPr/>
          </p:nvSpPr>
          <p:spPr>
            <a:xfrm>
              <a:off x="10823" y="4685"/>
              <a:ext cx="1320" cy="465"/>
            </a:xfrm>
            <a:prstGeom prst="roundRect">
              <a:avLst/>
            </a:prstGeom>
            <a:solidFill>
              <a:srgbClr val="FF0000">
                <a:alpha val="21000"/>
              </a:srgbClr>
            </a:solid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2" name="文本框 531"/>
                <p:cNvSpPr txBox="1"/>
                <p:nvPr/>
              </p:nvSpPr>
              <p:spPr>
                <a:xfrm>
                  <a:off x="10797" y="4700"/>
                  <a:ext cx="735" cy="449"/>
                </a:xfrm>
                <a:prstGeom prst="rect">
                  <a:avLst/>
                </a:prstGeom>
                <a:noFill/>
              </p:spPr>
              <p:txBody>
                <a:bodyPr wrap="none" rtlCol="0" anchor="ctr" anchorCtr="0">
                  <a:noAutofit/>
                </a:bodyPr>
                <a:p>
                  <a:pPr lvl="0"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out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532" name="文本框 5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7" y="4700"/>
                  <a:ext cx="735" cy="449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33" name="drawio2pptx:image:48" descr="image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1708" y="4685"/>
              <a:ext cx="435" cy="450"/>
            </a:xfrm>
            <a:prstGeom prst="rect">
              <a:avLst/>
            </a:prstGeom>
          </p:spPr>
        </p:pic>
      </p:grpSp>
      <p:grpSp>
        <p:nvGrpSpPr>
          <p:cNvPr id="640" name="组合 639"/>
          <p:cNvGrpSpPr/>
          <p:nvPr/>
        </p:nvGrpSpPr>
        <p:grpSpPr>
          <a:xfrm>
            <a:off x="5954395" y="2952115"/>
            <a:ext cx="815975" cy="294640"/>
            <a:chOff x="9409" y="4649"/>
            <a:chExt cx="1285" cy="464"/>
          </a:xfrm>
        </p:grpSpPr>
        <p:sp>
          <p:nvSpPr>
            <p:cNvPr id="529" name="圆角矩形 528"/>
            <p:cNvSpPr/>
            <p:nvPr/>
          </p:nvSpPr>
          <p:spPr>
            <a:xfrm>
              <a:off x="9466" y="4649"/>
              <a:ext cx="1228" cy="465"/>
            </a:xfrm>
            <a:prstGeom prst="roundRect">
              <a:avLst/>
            </a:prstGeom>
            <a:solidFill>
              <a:srgbClr val="B972FF">
                <a:alpha val="40000"/>
              </a:srgbClr>
            </a:solid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1" name="文本框 530"/>
                <p:cNvSpPr txBox="1"/>
                <p:nvPr/>
              </p:nvSpPr>
              <p:spPr>
                <a:xfrm>
                  <a:off x="9409" y="4649"/>
                  <a:ext cx="735" cy="465"/>
                </a:xfrm>
                <a:prstGeom prst="rect">
                  <a:avLst/>
                </a:prstGeom>
                <a:noFill/>
              </p:spPr>
              <p:txBody>
                <a:bodyPr wrap="none" rtlCol="0" anchor="ctr" anchorCtr="0">
                  <a:noAutofit/>
                </a:bodyPr>
                <a:p>
                  <a:pPr lvl="0"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fmt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531" name="文本框 5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9" y="4649"/>
                  <a:ext cx="735" cy="465"/>
                </a:xfrm>
                <a:prstGeom prst="rect">
                  <a:avLst/>
                </a:prstGeom>
                <a:blipFill rotWithShape="1">
                  <a:blip r:embed="rId2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34" name="图片 533" descr="doc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229" y="4649"/>
              <a:ext cx="465" cy="465"/>
            </a:xfrm>
            <a:prstGeom prst="rect">
              <a:avLst/>
            </a:prstGeom>
          </p:spPr>
        </p:pic>
      </p:grpSp>
      <p:sp>
        <p:nvSpPr>
          <p:cNvPr id="537" name="圆角矩形 536"/>
          <p:cNvSpPr/>
          <p:nvPr/>
        </p:nvSpPr>
        <p:spPr>
          <a:xfrm>
            <a:off x="5128260" y="2952000"/>
            <a:ext cx="767080" cy="295275"/>
          </a:xfrm>
          <a:prstGeom prst="roundRect">
            <a:avLst/>
          </a:prstGeom>
          <a:solidFill>
            <a:schemeClr val="accent5">
              <a:lumMod val="75000"/>
              <a:alpha val="21000"/>
            </a:scheme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8" name="文本框 537"/>
              <p:cNvSpPr txBox="1"/>
              <p:nvPr/>
            </p:nvSpPr>
            <p:spPr>
              <a:xfrm>
                <a:off x="5116830" y="2952000"/>
                <a:ext cx="457835" cy="29464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noAutofit/>
              </a:bodyPr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len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38" name="文本框 5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830" y="2952000"/>
                <a:ext cx="457835" cy="294640"/>
              </a:xfrm>
              <a:prstGeom prst="rect">
                <a:avLst/>
              </a:prstGeom>
              <a:blipFill rotWithShape="1">
                <a:blip r:embed="rId24"/>
                <a:stretch>
                  <a:fillRect t="-176" r="-41748" b="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1" name="图片 540" descr="mark_1354925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23560" y="2952000"/>
            <a:ext cx="264160" cy="264160"/>
          </a:xfrm>
          <a:prstGeom prst="rect">
            <a:avLst/>
          </a:prstGeom>
        </p:spPr>
      </p:pic>
      <p:sp>
        <p:nvSpPr>
          <p:cNvPr id="547" name="圆角矩形 546"/>
          <p:cNvSpPr/>
          <p:nvPr/>
        </p:nvSpPr>
        <p:spPr>
          <a:xfrm>
            <a:off x="4264660" y="2952000"/>
            <a:ext cx="767080" cy="295275"/>
          </a:xfrm>
          <a:prstGeom prst="roundRect">
            <a:avLst/>
          </a:prstGeom>
          <a:solidFill>
            <a:schemeClr val="accent6">
              <a:lumMod val="75000"/>
              <a:alpha val="21000"/>
            </a:scheme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8" name="文本框 547"/>
              <p:cNvSpPr txBox="1"/>
              <p:nvPr/>
            </p:nvSpPr>
            <p:spPr>
              <a:xfrm>
                <a:off x="4197350" y="2952750"/>
                <a:ext cx="457835" cy="29464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noAutofit/>
              </a:bodyPr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topo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48" name="文本框 5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350" y="2952750"/>
                <a:ext cx="457835" cy="294640"/>
              </a:xfrm>
              <a:prstGeom prst="rect">
                <a:avLst/>
              </a:prstGeom>
              <a:blipFill rotWithShape="1">
                <a:blip r:embed="rId26"/>
                <a:stretch>
                  <a:fillRect r="-69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0" name="图片 549" descr="五角星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21555" y="3009900"/>
            <a:ext cx="210185" cy="210185"/>
          </a:xfrm>
          <a:prstGeom prst="rect">
            <a:avLst/>
          </a:prstGeom>
        </p:spPr>
      </p:pic>
      <p:cxnSp>
        <p:nvCxnSpPr>
          <p:cNvPr id="552" name="直接箭头连接符 551"/>
          <p:cNvCxnSpPr/>
          <p:nvPr/>
        </p:nvCxnSpPr>
        <p:spPr>
          <a:xfrm flipV="1">
            <a:off x="676910" y="3347085"/>
            <a:ext cx="0" cy="33909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drawio2pptx:shape:12"/>
          <p:cNvSpPr/>
          <p:nvPr/>
        </p:nvSpPr>
        <p:spPr>
          <a:xfrm>
            <a:off x="248285" y="3545205"/>
            <a:ext cx="857250" cy="1514475"/>
          </a:xfrm>
          <a:prstGeom prst="rect">
            <a:avLst/>
          </a:prstGeom>
          <a:solidFill>
            <a:srgbClr val="F9F8F7"/>
          </a:solidFill>
          <a:ln w="12700">
            <a:solidFill>
              <a:srgbClr val="0E0D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awio2pptx:shape:35"/>
          <p:cNvSpPr/>
          <p:nvPr/>
        </p:nvSpPr>
        <p:spPr>
          <a:xfrm>
            <a:off x="326735" y="3818055"/>
            <a:ext cx="200025" cy="201600"/>
          </a:xfrm>
          <a:prstGeom prst="ellipse">
            <a:avLst/>
          </a:prstGeom>
          <a:solidFill>
            <a:srgbClr val="B6D5EB"/>
          </a:solidFill>
          <a:ln w="19050">
            <a:solidFill>
              <a:srgbClr val="2C2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awio2pptx:shape:36"/>
          <p:cNvSpPr/>
          <p:nvPr/>
        </p:nvSpPr>
        <p:spPr>
          <a:xfrm>
            <a:off x="326735" y="4826055"/>
            <a:ext cx="200025" cy="190500"/>
          </a:xfrm>
          <a:prstGeom prst="ellipse">
            <a:avLst/>
          </a:prstGeom>
          <a:solidFill>
            <a:srgbClr val="CD7D78"/>
          </a:solidFill>
          <a:ln w="19050">
            <a:solidFill>
              <a:srgbClr val="2521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awio2pptx:shape:37"/>
          <p:cNvSpPr/>
          <p:nvPr/>
        </p:nvSpPr>
        <p:spPr>
          <a:xfrm>
            <a:off x="326735" y="4574055"/>
            <a:ext cx="200025" cy="200025"/>
          </a:xfrm>
          <a:prstGeom prst="ellipse">
            <a:avLst/>
          </a:prstGeom>
          <a:solidFill>
            <a:srgbClr val="CEB7D4"/>
          </a:solidFill>
          <a:ln w="19050">
            <a:solidFill>
              <a:srgbClr val="3F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awio2pptx:shape:38"/>
          <p:cNvSpPr/>
          <p:nvPr/>
        </p:nvSpPr>
        <p:spPr>
          <a:xfrm>
            <a:off x="326735" y="4070055"/>
            <a:ext cx="200025" cy="201600"/>
          </a:xfrm>
          <a:prstGeom prst="ellipse">
            <a:avLst/>
          </a:prstGeom>
          <a:solidFill>
            <a:srgbClr val="BEE1B7"/>
          </a:solidFill>
          <a:ln w="19050">
            <a:solidFill>
              <a:srgbClr val="060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rawio2pptx:shape:39"/>
          <p:cNvSpPr/>
          <p:nvPr/>
        </p:nvSpPr>
        <p:spPr>
          <a:xfrm>
            <a:off x="326735" y="4322055"/>
            <a:ext cx="201600" cy="201600"/>
          </a:xfrm>
          <a:prstGeom prst="ellipse">
            <a:avLst/>
          </a:prstGeom>
          <a:solidFill>
            <a:srgbClr val="FFE399"/>
          </a:solidFill>
          <a:ln w="19050">
            <a:solidFill>
              <a:srgbClr val="0E0D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drawio2pptx:shape:170"/>
          <p:cNvSpPr/>
          <p:nvPr/>
        </p:nvSpPr>
        <p:spPr>
          <a:xfrm>
            <a:off x="467360" y="3599973"/>
            <a:ext cx="428625" cy="180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25252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Typed</a:t>
            </a:r>
            <a:endParaRPr sz="1400" b="0" i="0" u="none">
              <a:solidFill>
                <a:srgbClr val="25252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5" name="drawio2pptx:shape:194"/>
          <p:cNvSpPr/>
          <p:nvPr/>
        </p:nvSpPr>
        <p:spPr>
          <a:xfrm>
            <a:off x="527050" y="3833495"/>
            <a:ext cx="56324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u="none">
                <a:solidFill>
                  <a:srgbClr val="B6D5E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Def.</a:t>
            </a:r>
            <a:endParaRPr lang="en-US" sz="1200" b="1" i="0" u="none">
              <a:solidFill>
                <a:srgbClr val="B6D5E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87" name="drawio2pptx:shape:194"/>
          <p:cNvSpPr/>
          <p:nvPr/>
        </p:nvSpPr>
        <p:spPr>
          <a:xfrm>
            <a:off x="527050" y="4070350"/>
            <a:ext cx="56324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u="none">
                <a:solidFill>
                  <a:srgbClr val="BEE1B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Com.</a:t>
            </a:r>
            <a:endParaRPr lang="en-US" sz="1200" b="1" i="0" u="none">
              <a:solidFill>
                <a:srgbClr val="BEE1B7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23" name="drawio2pptx:shape:194"/>
          <p:cNvSpPr/>
          <p:nvPr/>
        </p:nvSpPr>
        <p:spPr>
          <a:xfrm>
            <a:off x="542290" y="4333240"/>
            <a:ext cx="56324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u="none">
                <a:solidFill>
                  <a:srgbClr val="FFE39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Deri.</a:t>
            </a:r>
            <a:endParaRPr lang="en-US" sz="1200" b="1" i="0" u="none">
              <a:solidFill>
                <a:srgbClr val="FFE399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24" name="drawio2pptx:shape:194"/>
          <p:cNvSpPr/>
          <p:nvPr/>
        </p:nvSpPr>
        <p:spPr>
          <a:xfrm>
            <a:off x="532765" y="4590415"/>
            <a:ext cx="56324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u="none">
                <a:solidFill>
                  <a:srgbClr val="CEB7D4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Subs.</a:t>
            </a:r>
            <a:endParaRPr lang="en-US" sz="1200" b="1" i="0" u="none">
              <a:solidFill>
                <a:srgbClr val="CEB7D4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25" name="drawio2pptx:shape:194"/>
          <p:cNvSpPr/>
          <p:nvPr/>
        </p:nvSpPr>
        <p:spPr>
          <a:xfrm>
            <a:off x="527050" y="4850130"/>
            <a:ext cx="56324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CD7D78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Conc.</a:t>
            </a:r>
            <a:endParaRPr lang="en-US" sz="1200" b="1" i="0" u="none">
              <a:solidFill>
                <a:srgbClr val="CD7D78"/>
              </a:solidFill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</p:txBody>
      </p:sp>
      <p:cxnSp>
        <p:nvCxnSpPr>
          <p:cNvPr id="569" name="直接箭头连接符 568"/>
          <p:cNvCxnSpPr/>
          <p:nvPr/>
        </p:nvCxnSpPr>
        <p:spPr>
          <a:xfrm>
            <a:off x="2032635" y="4019550"/>
            <a:ext cx="106680" cy="153035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1" name="直接箭头连接符 570"/>
          <p:cNvCxnSpPr/>
          <p:nvPr/>
        </p:nvCxnSpPr>
        <p:spPr>
          <a:xfrm flipH="1">
            <a:off x="1761490" y="4019550"/>
            <a:ext cx="106680" cy="153035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4" name="直接箭头连接符 573"/>
          <p:cNvCxnSpPr/>
          <p:nvPr/>
        </p:nvCxnSpPr>
        <p:spPr>
          <a:xfrm>
            <a:off x="2071370" y="4612640"/>
            <a:ext cx="89535" cy="129540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57" name="组合 556"/>
          <p:cNvGrpSpPr/>
          <p:nvPr/>
        </p:nvGrpSpPr>
        <p:grpSpPr>
          <a:xfrm>
            <a:off x="1698625" y="3771265"/>
            <a:ext cx="487680" cy="285750"/>
            <a:chOff x="2675" y="6131"/>
            <a:chExt cx="768" cy="450"/>
          </a:xfrm>
        </p:grpSpPr>
        <p:sp>
          <p:nvSpPr>
            <p:cNvPr id="555" name="椭圆 554"/>
            <p:cNvSpPr/>
            <p:nvPr/>
          </p:nvSpPr>
          <p:spPr>
            <a:xfrm>
              <a:off x="2736" y="6131"/>
              <a:ext cx="667" cy="450"/>
            </a:xfrm>
            <a:prstGeom prst="ellipse">
              <a:avLst/>
            </a:prstGeom>
            <a:solidFill>
              <a:srgbClr val="B6D5E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56" name="文本框 555"/>
            <p:cNvSpPr txBox="1"/>
            <p:nvPr/>
          </p:nvSpPr>
          <p:spPr>
            <a:xfrm>
              <a:off x="2675" y="6135"/>
              <a:ext cx="768" cy="37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Def</a:t>
              </a:r>
              <a:r>
                <a:rPr lang="en-US" altLang="zh-CN" sz="1200" b="1" baseline="-2500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1</a:t>
              </a:r>
              <a:endParaRPr lang="en-US" altLang="zh-CN" sz="1200" b="1" i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endParaRPr>
            </a:p>
          </p:txBody>
        </p:sp>
      </p:grpSp>
      <p:sp>
        <p:nvSpPr>
          <p:cNvPr id="558" name="椭圆 557"/>
          <p:cNvSpPr/>
          <p:nvPr/>
        </p:nvSpPr>
        <p:spPr>
          <a:xfrm>
            <a:off x="1394460" y="4140200"/>
            <a:ext cx="423545" cy="285750"/>
          </a:xfrm>
          <a:prstGeom prst="ellipse">
            <a:avLst/>
          </a:prstGeom>
          <a:solidFill>
            <a:srgbClr val="B6D5E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576" name="直接箭头连接符 575"/>
          <p:cNvCxnSpPr/>
          <p:nvPr/>
        </p:nvCxnSpPr>
        <p:spPr>
          <a:xfrm flipH="1">
            <a:off x="2139315" y="4335780"/>
            <a:ext cx="106680" cy="153035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9" name="文本框 558"/>
          <p:cNvSpPr txBox="1"/>
          <p:nvPr/>
        </p:nvSpPr>
        <p:spPr>
          <a:xfrm>
            <a:off x="1355725" y="4142740"/>
            <a:ext cx="487680" cy="238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Def</a:t>
            </a:r>
            <a:r>
              <a:rPr lang="en-US" altLang="zh-CN" sz="1200" b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</a:t>
            </a:r>
            <a:endParaRPr lang="en-US" altLang="zh-CN" sz="1200" b="1" i="1" baseline="-25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60" name="椭圆 559"/>
          <p:cNvSpPr/>
          <p:nvPr/>
        </p:nvSpPr>
        <p:spPr>
          <a:xfrm>
            <a:off x="1737360" y="4416425"/>
            <a:ext cx="423545" cy="285750"/>
          </a:xfrm>
          <a:prstGeom prst="ellipse">
            <a:avLst/>
          </a:prstGeom>
          <a:solidFill>
            <a:srgbClr val="BEE1B7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61" name="文本框 560"/>
          <p:cNvSpPr txBox="1"/>
          <p:nvPr/>
        </p:nvSpPr>
        <p:spPr>
          <a:xfrm>
            <a:off x="1619250" y="4418965"/>
            <a:ext cx="667385" cy="238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</a:t>
            </a:r>
            <a:r>
              <a:rPr lang="en-US" altLang="zh-CN" sz="1200" b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4</a:t>
            </a:r>
            <a:endParaRPr lang="en-US" altLang="zh-CN" sz="1200" b="1" i="1" baseline="-25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grpSp>
        <p:nvGrpSpPr>
          <p:cNvPr id="572" name="组合 571"/>
          <p:cNvGrpSpPr/>
          <p:nvPr/>
        </p:nvGrpSpPr>
        <p:grpSpPr>
          <a:xfrm>
            <a:off x="1254125" y="4701540"/>
            <a:ext cx="1384300" cy="288290"/>
            <a:chOff x="1949" y="7580"/>
            <a:chExt cx="2180" cy="454"/>
          </a:xfrm>
        </p:grpSpPr>
        <p:sp>
          <p:nvSpPr>
            <p:cNvPr id="562" name="椭圆 561"/>
            <p:cNvSpPr/>
            <p:nvPr/>
          </p:nvSpPr>
          <p:spPr>
            <a:xfrm>
              <a:off x="2135" y="7584"/>
              <a:ext cx="667" cy="450"/>
            </a:xfrm>
            <a:prstGeom prst="ellipse">
              <a:avLst/>
            </a:prstGeom>
            <a:solidFill>
              <a:srgbClr val="CEB7D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63" name="文本框 562"/>
            <p:cNvSpPr txBox="1"/>
            <p:nvPr/>
          </p:nvSpPr>
          <p:spPr>
            <a:xfrm>
              <a:off x="1949" y="7588"/>
              <a:ext cx="1051" cy="37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Sub</a:t>
              </a:r>
              <a:r>
                <a:rPr lang="en-US" altLang="zh-CN" sz="1200" b="1" baseline="-2500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5</a:t>
              </a:r>
              <a:endParaRPr lang="en-US" altLang="zh-CN" sz="1200" b="1" i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endParaRPr>
            </a:p>
          </p:txBody>
        </p:sp>
        <p:sp>
          <p:nvSpPr>
            <p:cNvPr id="564" name="椭圆 563"/>
            <p:cNvSpPr/>
            <p:nvPr/>
          </p:nvSpPr>
          <p:spPr>
            <a:xfrm>
              <a:off x="3274" y="7580"/>
              <a:ext cx="667" cy="450"/>
            </a:xfrm>
            <a:prstGeom prst="ellipse">
              <a:avLst/>
            </a:prstGeom>
            <a:solidFill>
              <a:srgbClr val="CD7D7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65" name="文本框 564"/>
            <p:cNvSpPr txBox="1"/>
            <p:nvPr/>
          </p:nvSpPr>
          <p:spPr>
            <a:xfrm>
              <a:off x="3078" y="7584"/>
              <a:ext cx="1051" cy="37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Conc</a:t>
              </a:r>
              <a:r>
                <a:rPr lang="en-US" altLang="zh-CN" sz="1200" b="1" baseline="-2500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6</a:t>
              </a:r>
              <a:endParaRPr lang="en-US" altLang="zh-CN" sz="1200" b="1" i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endParaRPr>
            </a:p>
          </p:txBody>
        </p:sp>
      </p:grpSp>
      <p:sp>
        <p:nvSpPr>
          <p:cNvPr id="566" name="椭圆 565"/>
          <p:cNvSpPr/>
          <p:nvPr/>
        </p:nvSpPr>
        <p:spPr>
          <a:xfrm>
            <a:off x="2078990" y="4130675"/>
            <a:ext cx="423545" cy="285750"/>
          </a:xfrm>
          <a:prstGeom prst="ellipse">
            <a:avLst/>
          </a:prstGeom>
          <a:solidFill>
            <a:srgbClr val="FFE39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67" name="文本框 566"/>
          <p:cNvSpPr txBox="1"/>
          <p:nvPr/>
        </p:nvSpPr>
        <p:spPr>
          <a:xfrm>
            <a:off x="2023110" y="4133215"/>
            <a:ext cx="537845" cy="238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Deri</a:t>
            </a:r>
            <a:r>
              <a:rPr lang="en-US" altLang="zh-CN" sz="1200" b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</a:t>
            </a:r>
            <a:endParaRPr lang="en-US" altLang="zh-CN" sz="1200" b="1" baseline="-25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570" name="直接箭头连接符 569"/>
          <p:cNvCxnSpPr/>
          <p:nvPr/>
        </p:nvCxnSpPr>
        <p:spPr>
          <a:xfrm flipH="1">
            <a:off x="1588135" y="4431030"/>
            <a:ext cx="3810" cy="275590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3" name="直接箭头连接符 572"/>
          <p:cNvCxnSpPr/>
          <p:nvPr/>
        </p:nvCxnSpPr>
        <p:spPr>
          <a:xfrm flipV="1">
            <a:off x="1588135" y="4657725"/>
            <a:ext cx="197485" cy="48895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7" name="直接箭头连接符 576"/>
          <p:cNvCxnSpPr>
            <a:endCxn id="561" idx="0"/>
          </p:cNvCxnSpPr>
          <p:nvPr/>
        </p:nvCxnSpPr>
        <p:spPr>
          <a:xfrm>
            <a:off x="1953260" y="4060825"/>
            <a:ext cx="0" cy="358140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0" name="drawio2pptx:shape:111"/>
          <p:cNvSpPr/>
          <p:nvPr/>
        </p:nvSpPr>
        <p:spPr>
          <a:xfrm>
            <a:off x="3210560" y="3135630"/>
            <a:ext cx="83947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1" u="none">
                <a:solidFill>
                  <a:srgbClr val="313D2D"/>
                </a:solidFill>
                <a:latin typeface="Arial Narrow" panose="020B0606020202030204"/>
              </a:rPr>
              <a:t>q</a:t>
            </a:r>
            <a:r>
              <a:rPr lang="en-US" sz="1600" b="1" i="1" u="none" baseline="-25000">
                <a:solidFill>
                  <a:srgbClr val="313D2D"/>
                </a:solidFill>
                <a:latin typeface="Arial Narrow" panose="020B0606020202030204"/>
              </a:rPr>
              <a:t>topo</a:t>
            </a:r>
            <a:endParaRPr lang="en-US" sz="1275" b="1" i="1" u="none" baseline="-25000">
              <a:solidFill>
                <a:srgbClr val="313D2D"/>
              </a:solidFill>
              <a:latin typeface="Arial Narrow" panose="020B0606020202030204"/>
            </a:endParaRPr>
          </a:p>
        </p:txBody>
      </p:sp>
      <p:sp>
        <p:nvSpPr>
          <p:cNvPr id="581" name="drawio2pptx:shape:115"/>
          <p:cNvSpPr/>
          <p:nvPr/>
        </p:nvSpPr>
        <p:spPr>
          <a:xfrm>
            <a:off x="3233420" y="3402330"/>
            <a:ext cx="767715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0" b="1" i="1">
                <a:solidFill>
                  <a:srgbClr val="313D2D"/>
                </a:solidFill>
                <a:latin typeface="Arial Narrow" panose="020B0606020202030204"/>
                <a:sym typeface="+mn-ea"/>
              </a:rPr>
              <a:t>q</a:t>
            </a:r>
            <a:r>
              <a:rPr lang="en-US" sz="1650" b="1" i="1" baseline="-25000">
                <a:solidFill>
                  <a:srgbClr val="313D2D"/>
                </a:solidFill>
                <a:latin typeface="Arial Narrow" panose="020B0606020202030204"/>
                <a:sym typeface="+mn-ea"/>
              </a:rPr>
              <a:t>cont</a:t>
            </a:r>
            <a:endParaRPr lang="en-US" sz="1650" b="1" i="1" u="none" baseline="-25000">
              <a:solidFill>
                <a:srgbClr val="313D2D"/>
              </a:solidFill>
              <a:latin typeface="Arial Narrow" panose="020B0606020202030204"/>
              <a:sym typeface="+mn-ea"/>
            </a:endParaRPr>
          </a:p>
        </p:txBody>
      </p:sp>
      <p:sp>
        <p:nvSpPr>
          <p:cNvPr id="582" name="双大括号 581"/>
          <p:cNvSpPr/>
          <p:nvPr/>
        </p:nvSpPr>
        <p:spPr>
          <a:xfrm>
            <a:off x="3352165" y="3246755"/>
            <a:ext cx="537210" cy="339090"/>
          </a:xfrm>
          <a:prstGeom prst="bracePair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i="1"/>
          </a:p>
        </p:txBody>
      </p:sp>
      <p:cxnSp>
        <p:nvCxnSpPr>
          <p:cNvPr id="583" name="肘形连接符 582"/>
          <p:cNvCxnSpPr/>
          <p:nvPr/>
        </p:nvCxnSpPr>
        <p:spPr>
          <a:xfrm flipV="1">
            <a:off x="3906520" y="3100070"/>
            <a:ext cx="307975" cy="316230"/>
          </a:xfrm>
          <a:prstGeom prst="bentConnector3">
            <a:avLst>
              <a:gd name="adj1" fmla="val 50103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85" name="组合 584"/>
          <p:cNvGrpSpPr/>
          <p:nvPr/>
        </p:nvGrpSpPr>
        <p:grpSpPr>
          <a:xfrm>
            <a:off x="6232525" y="405765"/>
            <a:ext cx="1762125" cy="624840"/>
            <a:chOff x="9926" y="26"/>
            <a:chExt cx="2775" cy="984"/>
          </a:xfrm>
        </p:grpSpPr>
        <p:sp>
          <p:nvSpPr>
            <p:cNvPr id="586" name="drawio2pptx:shape:98"/>
            <p:cNvSpPr/>
            <p:nvPr/>
          </p:nvSpPr>
          <p:spPr>
            <a:xfrm>
              <a:off x="9926" y="26"/>
              <a:ext cx="2775" cy="48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u="none">
                  <a:solidFill>
                    <a:srgbClr val="111115"/>
                  </a:solidFill>
                  <a:latin typeface="Georgia" panose="02040502050405090303"/>
                </a:rPr>
                <a:t>Warm-Start</a:t>
              </a:r>
              <a:endParaRPr b="0" i="0" u="none">
                <a:solidFill>
                  <a:srgbClr val="111115"/>
                </a:solidFill>
                <a:latin typeface="Georgia" panose="02040502050405090303"/>
              </a:endParaRPr>
            </a:p>
          </p:txBody>
        </p:sp>
        <p:pic>
          <p:nvPicPr>
            <p:cNvPr id="587" name="图片 586" descr="QianJianTec1778503326041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0910" y="620"/>
              <a:ext cx="631" cy="390"/>
            </a:xfrm>
            <a:prstGeom prst="rect">
              <a:avLst/>
            </a:prstGeom>
          </p:spPr>
        </p:pic>
      </p:grpSp>
      <p:pic>
        <p:nvPicPr>
          <p:cNvPr id="589" name="图片 588" descr="QianJianTec1778837057745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491990" y="2151380"/>
            <a:ext cx="2854325" cy="358140"/>
          </a:xfrm>
          <a:prstGeom prst="rect">
            <a:avLst/>
          </a:prstGeom>
        </p:spPr>
      </p:pic>
      <p:pic>
        <p:nvPicPr>
          <p:cNvPr id="591" name="图片 590" descr="QianJianTec1778837414959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202295" y="2339975"/>
            <a:ext cx="603885" cy="400050"/>
          </a:xfrm>
          <a:prstGeom prst="rect">
            <a:avLst/>
          </a:prstGeom>
        </p:spPr>
      </p:pic>
      <p:pic>
        <p:nvPicPr>
          <p:cNvPr id="592" name="drawio2pptx:image:41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912475" y="3997960"/>
            <a:ext cx="790575" cy="704850"/>
          </a:xfrm>
          <a:prstGeom prst="rect">
            <a:avLst/>
          </a:prstGeom>
        </p:spPr>
      </p:pic>
      <p:sp>
        <p:nvSpPr>
          <p:cNvPr id="593" name="drawio2pptx:shape:110"/>
          <p:cNvSpPr/>
          <p:nvPr/>
        </p:nvSpPr>
        <p:spPr>
          <a:xfrm>
            <a:off x="10636250" y="4807585"/>
            <a:ext cx="12858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21212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High Quality</a:t>
            </a:r>
            <a:r>
              <a:rPr lang="en-US" sz="1400" b="1" i="0" u="none">
                <a:solidFill>
                  <a:srgbClr val="21212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Chain</a:t>
            </a:r>
            <a:endParaRPr lang="en-US" sz="1400" b="1" i="0" u="none">
              <a:solidFill>
                <a:srgbClr val="21212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1">
                <a:solidFill>
                  <a:srgbClr val="292929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(Chain of Thought)</a:t>
            </a:r>
            <a:endParaRPr lang="en-US" sz="1400" b="1" i="0" u="none">
              <a:solidFill>
                <a:srgbClr val="21212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594" name="组合 593"/>
          <p:cNvGrpSpPr/>
          <p:nvPr/>
        </p:nvGrpSpPr>
        <p:grpSpPr>
          <a:xfrm>
            <a:off x="10881995" y="3775075"/>
            <a:ext cx="1042035" cy="297180"/>
            <a:chOff x="8574" y="11343"/>
            <a:chExt cx="1641" cy="468"/>
          </a:xfrm>
        </p:grpSpPr>
        <p:pic>
          <p:nvPicPr>
            <p:cNvPr id="595" name="drawio2pptx:image:58" descr="image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735" y="11343"/>
              <a:ext cx="481" cy="469"/>
            </a:xfrm>
            <a:prstGeom prst="rect">
              <a:avLst/>
            </a:prstGeom>
          </p:spPr>
        </p:pic>
        <p:pic>
          <p:nvPicPr>
            <p:cNvPr id="596" name="drawio2pptx:image:59" descr="image.pn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9371" y="11343"/>
              <a:ext cx="481" cy="469"/>
            </a:xfrm>
            <a:prstGeom prst="rect">
              <a:avLst/>
            </a:prstGeom>
          </p:spPr>
        </p:pic>
        <p:pic>
          <p:nvPicPr>
            <p:cNvPr id="597" name="drawio2pptx:image:60" descr="image.pn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8574" y="11343"/>
              <a:ext cx="469" cy="469"/>
            </a:xfrm>
            <a:prstGeom prst="rect">
              <a:avLst/>
            </a:prstGeom>
          </p:spPr>
        </p:pic>
        <p:pic>
          <p:nvPicPr>
            <p:cNvPr id="598" name="drawio2pptx:image:61" descr="image.pn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8996" y="11343"/>
              <a:ext cx="469" cy="469"/>
            </a:xfrm>
            <a:prstGeom prst="rect">
              <a:avLst/>
            </a:prstGeom>
          </p:spPr>
        </p:pic>
      </p:grpSp>
      <p:sp>
        <p:nvSpPr>
          <p:cNvPr id="599" name="drawio2pptx:connector:68"/>
          <p:cNvSpPr/>
          <p:nvPr/>
        </p:nvSpPr>
        <p:spPr>
          <a:xfrm flipV="1">
            <a:off x="10170795" y="4253230"/>
            <a:ext cx="647700" cy="76200"/>
          </a:xfrm>
          <a:custGeom>
            <a:avLst/>
            <a:gdLst/>
            <a:ahLst/>
            <a:cxnLst/>
            <a:rect l="l" t="t" r="r" b="b"/>
            <a:pathLst>
              <a:path w="54292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19050">
            <a:solidFill>
              <a:srgbClr val="03030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drawio2pptx:shape:138"/>
          <p:cNvSpPr/>
          <p:nvPr/>
        </p:nvSpPr>
        <p:spPr>
          <a:xfrm>
            <a:off x="10049510" y="4120356"/>
            <a:ext cx="83829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25" b="1" i="0" u="none">
                <a:solidFill>
                  <a:srgbClr val="2D1D15"/>
                </a:solidFill>
                <a:latin typeface="Arial Narrow" panose="020B0606020202030204"/>
              </a:rPr>
              <a:t>Rollout</a:t>
            </a:r>
            <a:endParaRPr lang="en-US" sz="1425" b="1" i="0" u="none">
              <a:solidFill>
                <a:srgbClr val="2D1D15"/>
              </a:solidFill>
              <a:latin typeface="Arial Narrow" panose="020B0606020202030204"/>
            </a:endParaRPr>
          </a:p>
        </p:txBody>
      </p:sp>
      <p:sp>
        <p:nvSpPr>
          <p:cNvPr id="601" name="drawio2pptx:shape:15"/>
          <p:cNvSpPr/>
          <p:nvPr/>
        </p:nvSpPr>
        <p:spPr>
          <a:xfrm>
            <a:off x="8970645" y="3070225"/>
            <a:ext cx="1476375" cy="590550"/>
          </a:xfrm>
          <a:prstGeom prst="roundRect">
            <a:avLst/>
          </a:prstGeom>
          <a:solidFill>
            <a:srgbClr val="FBD3AE"/>
          </a:solidFill>
          <a:ln w="19050">
            <a:solidFill>
              <a:srgbClr val="DE8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1D1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Teacher-Forced</a:t>
            </a:r>
            <a:r>
              <a:rPr lang="en-US" sz="1400" b="1">
                <a:solidFill>
                  <a:srgbClr val="291D1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/>
            </a:r>
            <a:endParaRPr lang="en-US" sz="1400" b="1" i="0" u="none">
              <a:solidFill>
                <a:srgbClr val="291D1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1D1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Distillation</a:t>
            </a:r>
            <a:r>
              <a:rPr lang="en-US" sz="1400" b="1">
                <a:solidFill>
                  <a:srgbClr val="2D1D1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1400" b="1">
                <a:solidFill>
                  <a:srgbClr val="2D1D1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Loss</a:t>
            </a:r>
            <a:endParaRPr lang="en-US" sz="1400" b="1" i="0" u="none">
              <a:solidFill>
                <a:srgbClr val="2D1D1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02" name="drawio2pptx:shape:17"/>
          <p:cNvSpPr/>
          <p:nvPr/>
        </p:nvSpPr>
        <p:spPr>
          <a:xfrm>
            <a:off x="8042275" y="4295775"/>
            <a:ext cx="1123315" cy="70485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0000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2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5" name="drawio2pptx:shape:15"/>
              <p:cNvSpPr/>
              <p:nvPr/>
            </p:nvSpPr>
            <p:spPr>
              <a:xfrm>
                <a:off x="10654665" y="3152775"/>
                <a:ext cx="1353185" cy="59055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1">
                    <a:solidFill>
                      <a:srgbClr val="191919"/>
                    </a:solidFill>
                    <a:latin typeface="Times New Roman" panose="02020503050405090304"/>
                    <a:sym typeface="+mn-ea"/>
                  </a:rPr>
                  <a:t>Quality Filter</a:t>
                </a:r>
                <a:endParaRPr sz="1400" b="1">
                  <a:solidFill>
                    <a:srgbClr val="191919"/>
                  </a:solidFill>
                  <a:latin typeface="Times New Roman" panose="02020503050405090304"/>
                  <a:sym typeface="+mn-ea"/>
                </a:endParaRP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sz="1400" b="1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PingFang SC Regular" panose="020B0400000000000000" charset="-122"/>
                        <a:cs typeface="DejaVu Math TeX Gyre" panose="02000503000000000000" charset="0"/>
                      </a:rPr>
                      <m:t>𝐑</m:t>
                    </m:r>
                  </m:oMath>
                </a14:m>
                <a:r>
                  <a:rPr sz="1400" b="1" i="1" baseline="-25000">
                    <a:solidFill>
                      <a:srgbClr val="252521"/>
                    </a:solidFill>
                    <a:latin typeface="Times New Roman" panose="02020503050405090304"/>
                    <a:sym typeface="+mn-ea"/>
                  </a:rPr>
                  <a:t>total </a:t>
                </a:r>
                <a:r>
                  <a:rPr sz="1400" b="1" i="1">
                    <a:solidFill>
                      <a:srgbClr val="252521"/>
                    </a:solidFill>
                    <a:latin typeface="Times New Roman" panose="02020503050405090304"/>
                    <a:sym typeface="+mn-ea"/>
                  </a:rPr>
                  <a:t>&gt; T</a:t>
                </a:r>
                <a:r>
                  <a:rPr lang="en-US" sz="1400" b="1" i="1">
                    <a:solidFill>
                      <a:srgbClr val="252521"/>
                    </a:solidFill>
                    <a:latin typeface="Times New Roman" panose="02020503050405090304"/>
                    <a:sym typeface="+mn-ea"/>
                  </a:rPr>
                  <a:t>hread</a:t>
                </a:r>
                <a:endParaRPr lang="en-US" sz="1400" b="1" i="1" u="none">
                  <a:solidFill>
                    <a:srgbClr val="252521"/>
                  </a:solidFill>
                  <a:latin typeface="Times New Roman" panose="02020503050405090304"/>
                  <a:cs typeface="Times New Roman" panose="02020503050405090304" pitchFamily="18" charset="0"/>
                  <a:sym typeface="+mn-ea"/>
                </a:endParaRPr>
              </a:p>
            </p:txBody>
          </p:sp>
        </mc:Choice>
        <mc:Fallback>
          <p:sp>
            <p:nvSpPr>
              <p:cNvPr id="605" name="drawio2pptx:shape: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665" y="3152775"/>
                <a:ext cx="1353185" cy="590550"/>
              </a:xfrm>
              <a:prstGeom prst="roundRect">
                <a:avLst/>
              </a:prstGeom>
              <a:blipFill rotWithShape="1">
                <a:blip r:embed="rId40"/>
                <a:stretch>
                  <a:fillRect l="-704" t="-1613" r="-704" b="-1613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圆角矩形 606"/>
          <p:cNvSpPr/>
          <p:nvPr/>
        </p:nvSpPr>
        <p:spPr>
          <a:xfrm>
            <a:off x="7944485" y="1671320"/>
            <a:ext cx="4176395" cy="3510280"/>
          </a:xfrm>
          <a:prstGeom prst="roundRect">
            <a:avLst>
              <a:gd name="adj" fmla="val 3798"/>
            </a:avLst>
          </a:prstGeom>
          <a:noFill/>
          <a:ln w="19050">
            <a:solidFill>
              <a:schemeClr val="accent3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8" name="drawio2pptx:shape:34"/>
          <p:cNvSpPr/>
          <p:nvPr/>
        </p:nvSpPr>
        <p:spPr>
          <a:xfrm>
            <a:off x="1485265" y="3458210"/>
            <a:ext cx="238125" cy="228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D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09" name="drawio2pptx:shape:122"/>
          <p:cNvSpPr/>
          <p:nvPr/>
        </p:nvSpPr>
        <p:spPr>
          <a:xfrm>
            <a:off x="1761490" y="3460750"/>
            <a:ext cx="131508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u="none">
                <a:solidFill>
                  <a:srgbClr val="191D1D"/>
                </a:solidFill>
                <a:latin typeface="Arial Narrow" panose="020B0606020202030204"/>
              </a:rPr>
              <a:t>Step Continuity Check</a:t>
            </a:r>
            <a:endParaRPr lang="en-US" altLang="zh-CN" sz="1400" b="1" i="0" u="none">
              <a:solidFill>
                <a:srgbClr val="191D1D"/>
              </a:solidFill>
              <a:latin typeface="Arial Narrow" panose="020B0606020202030204"/>
            </a:endParaRPr>
          </a:p>
        </p:txBody>
      </p:sp>
      <p:sp>
        <p:nvSpPr>
          <p:cNvPr id="616" name="上下箭头 615"/>
          <p:cNvSpPr/>
          <p:nvPr/>
        </p:nvSpPr>
        <p:spPr>
          <a:xfrm>
            <a:off x="9669145" y="2762250"/>
            <a:ext cx="153035" cy="281940"/>
          </a:xfrm>
          <a:prstGeom prst="upDown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7" name="上下箭头 616"/>
          <p:cNvSpPr/>
          <p:nvPr/>
        </p:nvSpPr>
        <p:spPr>
          <a:xfrm>
            <a:off x="9669145" y="3683000"/>
            <a:ext cx="153035" cy="281940"/>
          </a:xfrm>
          <a:prstGeom prst="upDown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9" name="drawio2pptx:shape:138"/>
          <p:cNvSpPr/>
          <p:nvPr/>
        </p:nvSpPr>
        <p:spPr>
          <a:xfrm>
            <a:off x="9689465" y="3737451"/>
            <a:ext cx="83829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25" b="1" i="0" u="none">
                <a:solidFill>
                  <a:srgbClr val="2D1D15"/>
                </a:solidFill>
                <a:latin typeface="Arial Narrow" panose="020B0606020202030204"/>
              </a:rPr>
              <a:t>Sample</a:t>
            </a:r>
            <a:endParaRPr lang="en-US" sz="1425" b="1" i="0" u="none">
              <a:solidFill>
                <a:srgbClr val="2D1D15"/>
              </a:solidFill>
              <a:latin typeface="Arial Narrow" panose="020B0606020202030204"/>
            </a:endParaRPr>
          </a:p>
        </p:txBody>
      </p:sp>
      <p:sp>
        <p:nvSpPr>
          <p:cNvPr id="620" name="圆柱形 619"/>
          <p:cNvSpPr/>
          <p:nvPr/>
        </p:nvSpPr>
        <p:spPr>
          <a:xfrm>
            <a:off x="8172450" y="3095625"/>
            <a:ext cx="582295" cy="571500"/>
          </a:xfrm>
          <a:prstGeom prst="can">
            <a:avLst/>
          </a:prstGeom>
          <a:solidFill>
            <a:srgbClr val="FFE399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Data</a:t>
            </a:r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621" name="曲线连接符 620"/>
          <p:cNvCxnSpPr>
            <a:stCxn id="620" idx="3"/>
          </p:cNvCxnSpPr>
          <p:nvPr/>
        </p:nvCxnSpPr>
        <p:spPr>
          <a:xfrm rot="5400000" flipV="1">
            <a:off x="8745220" y="3385185"/>
            <a:ext cx="533400" cy="1096645"/>
          </a:xfrm>
          <a:prstGeom prst="curved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3" name="曲线连接符 622"/>
          <p:cNvCxnSpPr>
            <a:stCxn id="620" idx="1"/>
          </p:cNvCxnSpPr>
          <p:nvPr/>
        </p:nvCxnSpPr>
        <p:spPr>
          <a:xfrm rot="16200000">
            <a:off x="8679180" y="2496820"/>
            <a:ext cx="383540" cy="814070"/>
          </a:xfrm>
          <a:prstGeom prst="curved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25" name="图片 624" descr="QianJianTec1778838949557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726170" y="3723640"/>
            <a:ext cx="942975" cy="219710"/>
          </a:xfrm>
          <a:prstGeom prst="rect">
            <a:avLst/>
          </a:prstGeom>
        </p:spPr>
      </p:pic>
      <p:pic>
        <p:nvPicPr>
          <p:cNvPr id="627" name="图片 626" descr="QianJianTec1778838987940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726170" y="2785745"/>
            <a:ext cx="671830" cy="230505"/>
          </a:xfrm>
          <a:prstGeom prst="rect">
            <a:avLst/>
          </a:prstGeom>
        </p:spPr>
      </p:pic>
      <p:sp>
        <p:nvSpPr>
          <p:cNvPr id="629" name="文本框 628"/>
          <p:cNvSpPr txBox="1"/>
          <p:nvPr/>
        </p:nvSpPr>
        <p:spPr>
          <a:xfrm>
            <a:off x="7994650" y="4338955"/>
            <a:ext cx="12179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x</a:t>
            </a:r>
            <a:r>
              <a:rPr lang="en-US" sz="12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: Problem</a:t>
            </a:r>
            <a:endParaRPr lang="en-US" sz="12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sz="1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y*</a:t>
            </a:r>
            <a:r>
              <a:rPr lang="en-US" sz="12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: CoT Answer</a:t>
            </a:r>
            <a:r>
              <a:rPr lang="en-US" altLang="zh-CN" sz="1200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1200" i="1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/>
            <a:r>
              <a:rPr lang="en-US" altLang="zh-CN" sz="1200" b="1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  </a:t>
            </a:r>
            <a:r>
              <a:rPr lang="en-US" altLang="zh-CN" sz="12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:</a:t>
            </a:r>
            <a:r>
              <a:rPr lang="en-US" altLang="zh-CN" sz="1200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policy</a:t>
            </a:r>
            <a:endParaRPr lang="en-US" altLang="zh-CN" sz="1200" i="1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30" name="文本框 629"/>
          <p:cNvSpPr txBox="1"/>
          <p:nvPr/>
        </p:nvSpPr>
        <p:spPr>
          <a:xfrm>
            <a:off x="5975350" y="4902200"/>
            <a:ext cx="1969135" cy="219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Hacking &amp; Collapse Prevention</a:t>
            </a:r>
            <a:endParaRPr lang="en-US" altLang="zh-CN" sz="1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631" name="drawio2pptx:image: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5175" y="4935220"/>
            <a:ext cx="170180" cy="170180"/>
          </a:xfrm>
          <a:prstGeom prst="rect">
            <a:avLst/>
          </a:prstGeom>
        </p:spPr>
      </p:pic>
      <p:sp>
        <p:nvSpPr>
          <p:cNvPr id="633" name="文本框 632"/>
          <p:cNvSpPr txBox="1"/>
          <p:nvPr/>
        </p:nvSpPr>
        <p:spPr>
          <a:xfrm>
            <a:off x="4425315" y="4902200"/>
            <a:ext cx="1200150" cy="219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Reward Hacking</a:t>
            </a:r>
            <a:endParaRPr lang="en-US" altLang="zh-CN" sz="1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606" name="曲线连接符 605"/>
          <p:cNvCxnSpPr/>
          <p:nvPr/>
        </p:nvCxnSpPr>
        <p:spPr>
          <a:xfrm rot="5400000" flipV="1">
            <a:off x="7186930" y="1060450"/>
            <a:ext cx="868680" cy="972185"/>
          </a:xfrm>
          <a:prstGeom prst="curved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37" name="图片 636" descr="doc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7005" y="86995"/>
            <a:ext cx="428625" cy="428625"/>
          </a:xfrm>
          <a:prstGeom prst="rect">
            <a:avLst/>
          </a:prstGeom>
        </p:spPr>
      </p:pic>
      <p:cxnSp>
        <p:nvCxnSpPr>
          <p:cNvPr id="642" name="曲线连接符 641"/>
          <p:cNvCxnSpPr>
            <a:stCxn id="592" idx="3"/>
          </p:cNvCxnSpPr>
          <p:nvPr/>
        </p:nvCxnSpPr>
        <p:spPr>
          <a:xfrm flipV="1">
            <a:off x="11703050" y="3745865"/>
            <a:ext cx="221615" cy="604520"/>
          </a:xfrm>
          <a:prstGeom prst="curved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4" name="直接箭头连接符 643"/>
          <p:cNvCxnSpPr>
            <a:stCxn id="605" idx="1"/>
            <a:endCxn id="601" idx="3"/>
          </p:cNvCxnSpPr>
          <p:nvPr/>
        </p:nvCxnSpPr>
        <p:spPr>
          <a:xfrm flipH="1" flipV="1">
            <a:off x="10447020" y="3365500"/>
            <a:ext cx="207645" cy="8255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5"/>
    </p:custData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533"/>
                </a:solidFill>
                <a:latin typeface="Arial"/>
              </a:rPr>
              <a:t>Direction and acyclicity respond to different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7863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Arial"/>
              </a:rPr>
              <a:t>Frozen encoder | paired source-trace bootstrap 95% intervals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357616" y="1060704"/>
            <a:ext cx="10972" cy="5074920"/>
          </a:xfrm>
          <a:prstGeom prst="rect">
            <a:avLst/>
          </a:prstGeom>
          <a:solidFill>
            <a:srgbClr val="D2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13648" y="1298448"/>
            <a:ext cx="50292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1392" y="1298448"/>
            <a:ext cx="2788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rial"/>
              </a:rPr>
              <a:t>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392" y="1627631"/>
            <a:ext cx="27889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533"/>
                </a:solidFill>
                <a:latin typeface="Arial"/>
              </a:rPr>
              <a:t>Reverse: Δq_dir=-0.715 [-0.771,-0.657];
Δq_acyc=+0.064 [0.040,0.091].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3648" y="2788920"/>
            <a:ext cx="50292" cy="731520"/>
          </a:xfrm>
          <a:prstGeom prst="rect">
            <a:avLst/>
          </a:prstGeom>
          <a:solidFill>
            <a:srgbClr val="B35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1392" y="2788920"/>
            <a:ext cx="2788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35806"/>
                </a:solidFill>
                <a:latin typeface="Arial"/>
              </a:rPr>
              <a:t>Acyclicity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3118103"/>
            <a:ext cx="27889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533"/>
                </a:solidFill>
                <a:latin typeface="Arial"/>
              </a:rPr>
              <a:t>Cycle closure: Δq_acyc=-0.328 [-0.366,-0.292];
Δq_dir=0.000 under matched backward mass.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4297680"/>
            <a:ext cx="50292" cy="731520"/>
          </a:xfrm>
          <a:prstGeom prst="rect">
            <a:avLst/>
          </a:prstGeom>
          <a:solidFill>
            <a:srgbClr val="5E3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2" y="4297680"/>
            <a:ext cx="2788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E3C99"/>
                </a:solidFill>
                <a:latin typeface="Arial"/>
              </a:rPr>
              <a:t>Noise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4626864"/>
            <a:ext cx="27889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533"/>
                </a:solidFill>
                <a:latin typeface="Arial"/>
              </a:rPr>
              <a:t>6.8% deletion: Δq_dir=-0.017, Δq_acyc=-0.012;
24.4% false-edge addition: Δq_acyc=-0.190.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5916168"/>
            <a:ext cx="2971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BE4332"/>
                </a:solidFill>
                <a:latin typeface="Arial"/>
              </a:rPr>
              <a:t>Corrected encoder: n=120; matched-cycle n=57.</a:t>
            </a:r>
          </a:p>
        </p:txBody>
      </p:sp>
      <p:pic>
        <p:nvPicPr>
          <p:cNvPr id="16" name="Picture 15" descr="topology_fals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78992"/>
            <a:ext cx="7818120" cy="41492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500" b="1" i="0">
                <a:solidFill>
                  <a:srgbClr val="1F2937"/>
                </a:solidFill>
                <a:latin typeface="Arial"/>
              </a:rPr>
              <a:t>TopoPRM: reward the graph before acyclic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115214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0" i="0">
                <a:solidFill>
                  <a:srgbClr val="5C6978"/>
                </a:solidFill>
                <a:latin typeface="Arial"/>
              </a:rPr>
              <a:t>Free-form trace  -&gt;  raw directed support  -&gt;  independent direction / acyclicity supervision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896112"/>
            <a:ext cx="11548872" cy="0"/>
          </a:xfrm>
          <a:prstGeom prst="line">
            <a:avLst/>
          </a:prstGeom>
          <a:ln w="12700">
            <a:solidFill>
              <a:srgbClr val="BEC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01568" y="1051560"/>
            <a:ext cx="0" cy="5458968"/>
          </a:xfrm>
          <a:prstGeom prst="line">
            <a:avLst/>
          </a:prstGeom>
          <a:ln w="11430">
            <a:solidFill>
              <a:srgbClr val="BEC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973568" y="1051560"/>
            <a:ext cx="0" cy="5458968"/>
          </a:xfrm>
          <a:prstGeom prst="line">
            <a:avLst/>
          </a:prstGeom>
          <a:ln w="11430">
            <a:solidFill>
              <a:srgbClr val="BEC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040" y="1033271"/>
            <a:ext cx="27889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3171AD"/>
                </a:solidFill>
                <a:latin typeface="Arial"/>
              </a:rPr>
              <a:t>1  Free-form reasoning 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27889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rial"/>
              </a:rPr>
              <a:t>No graph syntax is required from the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810512"/>
            <a:ext cx="475488" cy="493776"/>
          </a:xfrm>
          <a:prstGeom prst="roundRect">
            <a:avLst/>
          </a:prstGeom>
          <a:solidFill>
            <a:srgbClr val="3171AD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10512"/>
            <a:ext cx="2212848" cy="493776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Given  x + y =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450591"/>
            <a:ext cx="475488" cy="493776"/>
          </a:xfrm>
          <a:prstGeom prst="roundRect">
            <a:avLst/>
          </a:prstGeom>
          <a:solidFill>
            <a:srgbClr val="3171AD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50591"/>
            <a:ext cx="2212848" cy="493776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Given  2x - y =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090672"/>
            <a:ext cx="475488" cy="493776"/>
          </a:xfrm>
          <a:prstGeom prst="roundRect">
            <a:avLst/>
          </a:prstGeom>
          <a:solidFill>
            <a:srgbClr val="227852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90672"/>
            <a:ext cx="2212848" cy="493776"/>
          </a:xfrm>
          <a:prstGeom prst="roundRect">
            <a:avLst/>
          </a:prstGeom>
          <a:solidFill>
            <a:srgbClr val="E2F2E9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Add equations: 3x = 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730752"/>
            <a:ext cx="475488" cy="493776"/>
          </a:xfrm>
          <a:prstGeom prst="roundRect">
            <a:avLst/>
          </a:prstGeom>
          <a:solidFill>
            <a:srgbClr val="B56510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30752"/>
            <a:ext cx="2212848" cy="493776"/>
          </a:xfrm>
          <a:prstGeom prst="roundRect">
            <a:avLst/>
          </a:prstGeom>
          <a:solidFill>
            <a:srgbClr val="FBEFD7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Therefore x =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4370832"/>
            <a:ext cx="475488" cy="493776"/>
          </a:xfrm>
          <a:prstGeom prst="roundRect">
            <a:avLst/>
          </a:prstGeom>
          <a:solidFill>
            <a:srgbClr val="674899"/>
          </a:solidFill>
          <a:ln w="13970">
            <a:solidFill>
              <a:srgbClr val="67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70832"/>
            <a:ext cx="2212848" cy="493776"/>
          </a:xfrm>
          <a:prstGeom prst="roundRect">
            <a:avLst/>
          </a:prstGeom>
          <a:solidFill>
            <a:srgbClr val="EDE7F7"/>
          </a:solidFill>
          <a:ln w="13970">
            <a:solidFill>
              <a:srgbClr val="67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Substitute and conclude y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5129784"/>
            <a:ext cx="26974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Arial"/>
              </a:rPr>
              <a:t>Committed derivation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5413248"/>
            <a:ext cx="2697480" cy="6583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C6978"/>
                </a:solidFill>
                <a:latin typeface="Arial"/>
              </a:rPr>
              <a:t>The final answer may be correct even when
its written support is backward or circular.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" y="6126480"/>
            <a:ext cx="2670048" cy="347472"/>
          </a:xfrm>
          <a:prstGeom prst="roundRect">
            <a:avLst/>
          </a:prstGeom>
          <a:solidFill>
            <a:srgbClr val="FAE4E0"/>
          </a:solidFill>
          <a:ln w="13970">
            <a:solidFill>
              <a:srgbClr val="B24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B24436"/>
                </a:solidFill>
                <a:latin typeface="Arial"/>
              </a:rPr>
              <a:t>Outcome reward cannot expose this.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1033271"/>
            <a:ext cx="4114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227852"/>
                </a:solidFill>
                <a:latin typeface="Arial"/>
              </a:rPr>
              <a:t>2  Recover raw support before projection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1353312"/>
            <a:ext cx="4114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rial"/>
              </a:rPr>
              <a:t>The encoder considers each unordered step pair.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1700784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Raw graph  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2084831"/>
            <a:ext cx="1143000" cy="475488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084831"/>
            <a:ext cx="1143000" cy="475488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1728" y="2926080"/>
            <a:ext cx="1143000" cy="475488"/>
          </a:xfrm>
          <a:prstGeom prst="roundRect">
            <a:avLst/>
          </a:prstGeom>
          <a:solidFill>
            <a:srgbClr val="E2F2E9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39" y="3767328"/>
            <a:ext cx="1143000" cy="475488"/>
          </a:xfrm>
          <a:prstGeom prst="roundRect">
            <a:avLst/>
          </a:prstGeom>
          <a:solidFill>
            <a:srgbClr val="FBEFD7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3767328"/>
            <a:ext cx="1143000" cy="475488"/>
          </a:xfrm>
          <a:prstGeom prst="roundRect">
            <a:avLst/>
          </a:prstGeom>
          <a:solidFill>
            <a:srgbClr val="EDE7F7"/>
          </a:solidFill>
          <a:ln w="13970">
            <a:solidFill>
              <a:srgbClr val="67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15968" y="2560320"/>
            <a:ext cx="649224" cy="365760"/>
          </a:xfrm>
          <a:prstGeom prst="line">
            <a:avLst/>
          </a:prstGeom>
          <a:ln w="2032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340096" y="2560320"/>
            <a:ext cx="841248" cy="365760"/>
          </a:xfrm>
          <a:prstGeom prst="line">
            <a:avLst/>
          </a:prstGeom>
          <a:ln w="2032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4315968" y="3401568"/>
            <a:ext cx="640080" cy="365760"/>
          </a:xfrm>
          <a:prstGeom prst="line">
            <a:avLst/>
          </a:prstGeom>
          <a:ln w="2032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40096" y="3401568"/>
            <a:ext cx="557784" cy="365760"/>
          </a:xfrm>
          <a:prstGeom prst="line">
            <a:avLst/>
          </a:prstGeom>
          <a:ln w="2032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5230368" y="3383280"/>
            <a:ext cx="393192" cy="621792"/>
          </a:xfrm>
          <a:prstGeom prst="line">
            <a:avLst/>
          </a:prstGeom>
          <a:ln w="25400">
            <a:solidFill>
              <a:srgbClr val="B24436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749039" y="2505456"/>
            <a:ext cx="1856233" cy="1499616"/>
          </a:xfrm>
          <a:prstGeom prst="line">
            <a:avLst/>
          </a:prstGeom>
          <a:ln w="25400">
            <a:solidFill>
              <a:srgbClr val="B56510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39312" y="4343400"/>
            <a:ext cx="41148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C6978"/>
                </a:solidFill>
                <a:latin typeface="Arial"/>
              </a:rPr>
              <a:t>solid: retained support     dashed: projection residual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4700016"/>
            <a:ext cx="1920240" cy="502920"/>
          </a:xfrm>
          <a:prstGeom prst="roundRect">
            <a:avLst/>
          </a:prstGeom>
          <a:solidFill>
            <a:srgbClr val="FAE4E0"/>
          </a:solidFill>
          <a:ln w="13970">
            <a:solidFill>
              <a:srgbClr val="B24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100" b="1">
                <a:solidFill>
                  <a:srgbClr val="B24436"/>
                </a:solidFill>
                <a:latin typeface="Arial"/>
              </a:rPr>
              <a:t>Backward residual
for q_dir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42432" y="4700016"/>
            <a:ext cx="1920240" cy="502920"/>
          </a:xfrm>
          <a:prstGeom prst="roundRect">
            <a:avLst/>
          </a:prstGeom>
          <a:solidFill>
            <a:srgbClr val="FBEFD7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100" b="1">
                <a:solidFill>
                  <a:srgbClr val="B56510"/>
                </a:solidFill>
                <a:latin typeface="Arial"/>
              </a:rPr>
              <a:t>Cycle residual
for q_acyc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617720" y="4343400"/>
            <a:ext cx="0" cy="356616"/>
          </a:xfrm>
          <a:prstGeom prst="line">
            <a:avLst/>
          </a:prstGeom>
          <a:ln w="17780">
            <a:solidFill>
              <a:srgbClr val="B244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693408" y="4343400"/>
            <a:ext cx="0" cy="356616"/>
          </a:xfrm>
          <a:prstGeom prst="line">
            <a:avLst/>
          </a:prstGeom>
          <a:ln w="17780">
            <a:solidFill>
              <a:srgbClr val="B565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57600" y="5321808"/>
            <a:ext cx="4005072" cy="2468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Arial"/>
              </a:rPr>
              <a:t>Acyclic projection  G = Pi(H)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67328" y="5715000"/>
            <a:ext cx="566928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26864" y="5715000"/>
            <a:ext cx="566928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5715000"/>
            <a:ext cx="566928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45936" y="5715000"/>
            <a:ext cx="566928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05472" y="5715000"/>
            <a:ext cx="566928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334256" y="5897880"/>
            <a:ext cx="292608" cy="0"/>
          </a:xfrm>
          <a:prstGeom prst="line">
            <a:avLst/>
          </a:prstGeom>
          <a:ln w="1651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193792" y="5897880"/>
            <a:ext cx="292608" cy="0"/>
          </a:xfrm>
          <a:prstGeom prst="line">
            <a:avLst/>
          </a:prstGeom>
          <a:ln w="1651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53328" y="5897880"/>
            <a:ext cx="292608" cy="0"/>
          </a:xfrm>
          <a:prstGeom prst="line">
            <a:avLst/>
          </a:prstGeom>
          <a:ln w="1651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912864" y="5897880"/>
            <a:ext cx="292608" cy="0"/>
          </a:xfrm>
          <a:prstGeom prst="line">
            <a:avLst/>
          </a:prstGeom>
          <a:ln w="1651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0" y="6181344"/>
            <a:ext cx="4005072" cy="3017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C6978"/>
                </a:solidFill>
                <a:latin typeface="Arial"/>
              </a:rPr>
              <a:t>Projection enables DAG operations; discarded edges remain supervision.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1033271"/>
            <a:ext cx="3639312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674899"/>
                </a:solidFill>
                <a:latin typeface="Arial"/>
              </a:rPr>
              <a:t>3  Use both graph views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1353312"/>
            <a:ext cx="3639312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rial"/>
              </a:rPr>
              <a:t>Topology is a source, not an output format.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1755648"/>
            <a:ext cx="1627632" cy="566928"/>
          </a:xfrm>
          <a:prstGeom prst="roundRect">
            <a:avLst/>
          </a:prstGeom>
          <a:solidFill>
            <a:srgbClr val="FAE4E0"/>
          </a:solidFill>
          <a:ln w="13970">
            <a:solidFill>
              <a:srgbClr val="B24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B24436"/>
                </a:solidFill>
                <a:latin typeface="Arial"/>
              </a:rPr>
              <a:t>Direction
q_dir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03536" y="1755648"/>
            <a:ext cx="1627632" cy="566928"/>
          </a:xfrm>
          <a:prstGeom prst="roundRect">
            <a:avLst/>
          </a:prstGeom>
          <a:solidFill>
            <a:srgbClr val="FBEFD7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B56510"/>
                </a:solidFill>
                <a:latin typeface="Arial"/>
              </a:rPr>
              <a:t>Acyclicity
q_acyc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2350008"/>
            <a:ext cx="3401568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5C6978"/>
                </a:solidFill>
                <a:latin typeface="Arial"/>
              </a:rPr>
              <a:t>kept separate before aggregation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2724912"/>
            <a:ext cx="713232" cy="365760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00" b="1">
                <a:solidFill>
                  <a:srgbClr val="3171AD"/>
                </a:solidFill>
                <a:latin typeface="Arial"/>
              </a:rPr>
              <a:t>outcome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34272" y="2724912"/>
            <a:ext cx="713232" cy="365760"/>
          </a:xfrm>
          <a:prstGeom prst="roundRect">
            <a:avLst/>
          </a:prstGeom>
          <a:solidFill>
            <a:srgbClr val="EDE7F7"/>
          </a:solidFill>
          <a:ln w="13970">
            <a:solidFill>
              <a:srgbClr val="67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00" b="1">
                <a:solidFill>
                  <a:srgbClr val="674899"/>
                </a:solidFill>
                <a:latin typeface="Arial"/>
              </a:rPr>
              <a:t>format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38944" y="2724912"/>
            <a:ext cx="822960" cy="365760"/>
          </a:xfrm>
          <a:prstGeom prst="roundRect">
            <a:avLst/>
          </a:prstGeom>
          <a:solidFill>
            <a:srgbClr val="E2F2E9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00" b="1">
                <a:solidFill>
                  <a:srgbClr val="227852"/>
                </a:solidFill>
                <a:latin typeface="Arial"/>
              </a:rPr>
              <a:t>continuity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808208" y="2724912"/>
            <a:ext cx="822960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00" b="1">
                <a:solidFill>
                  <a:srgbClr val="3171AD"/>
                </a:solidFill>
                <a:latin typeface="Arial"/>
              </a:rPr>
              <a:t>q_proj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13648" y="3364992"/>
            <a:ext cx="2633472" cy="530352"/>
          </a:xfrm>
          <a:prstGeom prst="roundRect">
            <a:avLst/>
          </a:prstGeom>
          <a:solidFill>
            <a:srgbClr val="EDE7F7"/>
          </a:solidFill>
          <a:ln w="13970">
            <a:solidFill>
              <a:srgbClr val="67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674899"/>
                </a:solidFill>
                <a:latin typeface="Arial"/>
              </a:rPr>
              <a:t>Topology-conditioned
Choquet reward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86216" y="3090672"/>
            <a:ext cx="1344168" cy="274320"/>
          </a:xfrm>
          <a:prstGeom prst="line">
            <a:avLst/>
          </a:prstGeom>
          <a:ln w="12700">
            <a:solidFill>
              <a:srgbClr val="5C69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390888" y="3090672"/>
            <a:ext cx="539496" cy="274320"/>
          </a:xfrm>
          <a:prstGeom prst="line">
            <a:avLst/>
          </a:prstGeom>
          <a:ln w="12700">
            <a:solidFill>
              <a:srgbClr val="5C69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9930384" y="3090672"/>
            <a:ext cx="320040" cy="274320"/>
          </a:xfrm>
          <a:prstGeom prst="line">
            <a:avLst/>
          </a:prstGeom>
          <a:ln w="12700">
            <a:solidFill>
              <a:srgbClr val="5C69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9930384" y="3090672"/>
            <a:ext cx="1289304" cy="274320"/>
          </a:xfrm>
          <a:prstGeom prst="line">
            <a:avLst/>
          </a:prstGeom>
          <a:ln w="12700">
            <a:solidFill>
              <a:srgbClr val="5C69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043416" y="2322576"/>
            <a:ext cx="557784" cy="1042416"/>
          </a:xfrm>
          <a:prstGeom prst="line">
            <a:avLst/>
          </a:prstGeom>
          <a:ln w="16510">
            <a:solidFill>
              <a:srgbClr val="B244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0259568" y="2322576"/>
            <a:ext cx="557784" cy="1042416"/>
          </a:xfrm>
          <a:prstGeom prst="line">
            <a:avLst/>
          </a:prstGeom>
          <a:ln w="16510">
            <a:solidFill>
              <a:srgbClr val="B565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257031" y="3959352"/>
            <a:ext cx="3346704" cy="49377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C6978"/>
                </a:solidFill>
                <a:latin typeface="Arial"/>
              </a:rPr>
              <a:t>Interactions reward agreement while preserving
which structural property failed.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66175" y="4544568"/>
            <a:ext cx="3346704" cy="438912"/>
          </a:xfrm>
          <a:prstGeom prst="roundRect">
            <a:avLst/>
          </a:prstGeom>
          <a:solidFill>
            <a:srgbClr val="E2F2E9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100" b="1">
                <a:solidFill>
                  <a:srgbClr val="227852"/>
                </a:solidFill>
                <a:latin typeface="Arial"/>
              </a:rPr>
              <a:t>Stage II  ·  matched GRPO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939528" y="3895344"/>
            <a:ext cx="0" cy="649224"/>
          </a:xfrm>
          <a:prstGeom prst="line">
            <a:avLst/>
          </a:prstGeom>
          <a:ln w="1905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257031" y="5038344"/>
            <a:ext cx="3346704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C6978"/>
                </a:solidFill>
                <a:latin typeface="Arial"/>
              </a:rPr>
              <a:t>The complete reward changes rollout ordering.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66175" y="5404104"/>
            <a:ext cx="932688" cy="502920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Student
trace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09176" y="5404104"/>
            <a:ext cx="1033271" cy="502920"/>
          </a:xfrm>
          <a:prstGeom prst="roundRect">
            <a:avLst/>
          </a:prstGeom>
          <a:solidFill>
            <a:srgbClr val="FBEFD7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Defect
localizer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652760" y="5404104"/>
            <a:ext cx="950976" cy="502920"/>
          </a:xfrm>
          <a:prstGeom prst="roundRect">
            <a:avLst/>
          </a:prstGeom>
          <a:solidFill>
            <a:srgbClr val="E2F2E9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Checked
target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198864" y="5650992"/>
            <a:ext cx="210312" cy="0"/>
          </a:xfrm>
          <a:prstGeom prst="line">
            <a:avLst/>
          </a:prstGeom>
          <a:ln w="15240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442448" y="5650992"/>
            <a:ext cx="210312" cy="0"/>
          </a:xfrm>
          <a:prstGeom prst="line">
            <a:avLst/>
          </a:prstGeom>
          <a:ln w="15240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247888" y="5989320"/>
            <a:ext cx="3364992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674899"/>
                </a:solidFill>
                <a:latin typeface="Arial"/>
              </a:rPr>
              <a:t>Stage III  ·  Topology-Guided Distillation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47888" y="6245352"/>
            <a:ext cx="3364992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0" i="0">
                <a:solidFill>
                  <a:srgbClr val="5C6978"/>
                </a:solidFill>
                <a:latin typeface="Arial"/>
              </a:rPr>
              <a:t>Backward / cycle / orphan defects select teacher revisions.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64592"/>
            <a:ext cx="11430000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2500" b="1">
                <a:solidFill>
                  <a:srgbClr val="1F2A3A"/>
                </a:solidFill>
                <a:latin typeface="Aptos"/>
              </a:defRPr>
            </a:pPr>
            <a:r>
              <a:t>Direction and acyclicity are independently falsifiable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1018520" cy="25603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200" b="0">
                <a:solidFill>
                  <a:srgbClr val="5B6B80"/>
                </a:solidFill>
                <a:latin typeface="Aptos"/>
              </a:defRPr>
            </a:pPr>
            <a:r>
              <a:t>Controlled perturbations change one structural failure while holding trace content or graph mass fixed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32688"/>
            <a:ext cx="11548872" cy="10972"/>
          </a:xfrm>
          <a:prstGeom prst="rect">
            <a:avLst/>
          </a:prstGeom>
          <a:solidFill>
            <a:srgbClr val="BE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1115568"/>
            <a:ext cx="3712463" cy="5056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3346704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400" b="1">
                <a:solidFill>
                  <a:srgbClr val="2F74B5"/>
                </a:solidFill>
                <a:latin typeface="Aptos"/>
              </a:defRPr>
            </a:pPr>
            <a:r>
              <a:t>1  Reverse the same written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627632"/>
            <a:ext cx="3310128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000" b="0">
                <a:solidFill>
                  <a:srgbClr val="5B6B80"/>
                </a:solidFill>
                <a:latin typeface="Aptos"/>
              </a:defRPr>
            </a:pPr>
            <a:r>
              <a:t>Content is unchanged; only textual order is reversed.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39112"/>
            <a:ext cx="1325880" cy="25603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1F2A3A"/>
                </a:solidFill>
                <a:latin typeface="Aptos"/>
              </a:defRPr>
            </a:pPr>
            <a:r>
              <a:t>Original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359152"/>
            <a:ext cx="713232" cy="420624"/>
          </a:xfrm>
          <a:prstGeom prst="roundRect">
            <a:avLst/>
          </a:prstGeom>
          <a:solidFill>
            <a:srgbClr val="E5F0FA"/>
          </a:solidFill>
          <a:ln w="1651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359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2359152"/>
            <a:ext cx="713232" cy="420624"/>
          </a:xfrm>
          <a:prstGeom prst="roundRect">
            <a:avLst/>
          </a:prstGeom>
          <a:solidFill>
            <a:srgbClr val="E5F0FA"/>
          </a:solidFill>
          <a:ln w="1651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9072" y="2359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2359152"/>
            <a:ext cx="713232" cy="420624"/>
          </a:xfrm>
          <a:prstGeom prst="roundRect">
            <a:avLst/>
          </a:prstGeom>
          <a:solidFill>
            <a:srgbClr val="E5F0FA"/>
          </a:solidFill>
          <a:ln w="1651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2359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35024" y="2569464"/>
            <a:ext cx="384048" cy="0"/>
          </a:xfrm>
          <a:prstGeom prst="line">
            <a:avLst/>
          </a:prstGeom>
          <a:ln w="25400">
            <a:solidFill>
              <a:srgbClr val="237C5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32304" y="2569464"/>
            <a:ext cx="384048" cy="0"/>
          </a:xfrm>
          <a:prstGeom prst="line">
            <a:avLst/>
          </a:prstGeom>
          <a:ln w="25400">
            <a:solidFill>
              <a:srgbClr val="237C5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35024" y="2816352"/>
            <a:ext cx="1719072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000" b="1">
                <a:solidFill>
                  <a:srgbClr val="237C56"/>
                </a:solidFill>
                <a:latin typeface="Aptos"/>
              </a:defRPr>
            </a:pPr>
            <a:r>
              <a:t>forward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72968"/>
            <a:ext cx="1737360" cy="25603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1F2A3A"/>
                </a:solidFill>
                <a:latin typeface="Aptos"/>
              </a:defRPr>
            </a:pPr>
            <a:r>
              <a:t>Reversed presentation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502152"/>
            <a:ext cx="713232" cy="420624"/>
          </a:xfrm>
          <a:prstGeom prst="roundRect">
            <a:avLst/>
          </a:prstGeom>
          <a:solidFill>
            <a:srgbClr val="FCE8E4"/>
          </a:solidFill>
          <a:ln w="16510"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502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19072" y="3502152"/>
            <a:ext cx="713232" cy="420624"/>
          </a:xfrm>
          <a:prstGeom prst="roundRect">
            <a:avLst/>
          </a:prstGeom>
          <a:solidFill>
            <a:srgbClr val="FCE8E4"/>
          </a:solidFill>
          <a:ln w="16510"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19072" y="3502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6352" y="3502152"/>
            <a:ext cx="713232" cy="420624"/>
          </a:xfrm>
          <a:prstGeom prst="roundRect">
            <a:avLst/>
          </a:prstGeom>
          <a:solidFill>
            <a:srgbClr val="FCE8E4"/>
          </a:solidFill>
          <a:ln w="16510"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16352" y="3502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S1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432304" y="3712463"/>
            <a:ext cx="384048" cy="0"/>
          </a:xfrm>
          <a:prstGeom prst="line">
            <a:avLst/>
          </a:prstGeom>
          <a:ln w="25400">
            <a:solidFill>
              <a:srgbClr val="BE43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335024" y="3712463"/>
            <a:ext cx="384048" cy="0"/>
          </a:xfrm>
          <a:prstGeom prst="line">
            <a:avLst/>
          </a:prstGeom>
          <a:ln w="25400">
            <a:solidFill>
              <a:srgbClr val="BE43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88136" y="3950208"/>
            <a:ext cx="233172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000" b="1">
                <a:solidFill>
                  <a:srgbClr val="BE4332"/>
                </a:solidFill>
                <a:latin typeface="Aptos"/>
              </a:defRPr>
            </a:pPr>
            <a:r>
              <a:t>support now points backward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425696"/>
            <a:ext cx="1572768" cy="512064"/>
          </a:xfrm>
          <a:prstGeom prst="roundRect">
            <a:avLst/>
          </a:prstGeom>
          <a:solidFill>
            <a:srgbClr val="FCE8E4"/>
          </a:solidFill>
          <a:ln w="15240"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453128"/>
            <a:ext cx="822960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950" b="1">
                <a:solidFill>
                  <a:srgbClr val="5B6B80"/>
                </a:solidFill>
                <a:latin typeface="Aptos"/>
              </a:defRPr>
            </a:pPr>
            <a:r>
              <a:t>Direction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4453128"/>
            <a:ext cx="6583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600" b="1">
                <a:solidFill>
                  <a:srgbClr val="BE4332"/>
                </a:solidFill>
                <a:latin typeface="Aptos"/>
              </a:defRPr>
            </a:pPr>
            <a:r>
              <a:t>-0.715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58568" y="4425696"/>
            <a:ext cx="1572768" cy="512064"/>
          </a:xfrm>
          <a:prstGeom prst="roundRect">
            <a:avLst/>
          </a:prstGeom>
          <a:solidFill>
            <a:srgbClr val="FDF0D7"/>
          </a:solidFill>
          <a:ln w="15240"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13432" y="4453128"/>
            <a:ext cx="822960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950" b="1">
                <a:solidFill>
                  <a:srgbClr val="5B6B80"/>
                </a:solidFill>
                <a:latin typeface="Aptos"/>
              </a:defRPr>
            </a:pPr>
            <a:r>
              <a:t>Acyclicity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8" y="4453128"/>
            <a:ext cx="6583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600" b="1">
                <a:solidFill>
                  <a:srgbClr val="BF6806"/>
                </a:solidFill>
                <a:latin typeface="Aptos"/>
              </a:defRPr>
            </a:pPr>
            <a:r>
              <a:t>+0.064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138928"/>
            <a:ext cx="3264408" cy="694944"/>
          </a:xfrm>
          <a:prstGeom prst="roundRect">
            <a:avLst/>
          </a:prstGeom>
          <a:solidFill>
            <a:srgbClr val="E5F0FA"/>
          </a:solidFill>
          <a:ln w="1524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5212080"/>
            <a:ext cx="3008376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200" b="1">
                <a:solidFill>
                  <a:srgbClr val="1F2A3A"/>
                </a:solidFill>
                <a:latin typeface="Aptos"/>
              </a:defRPr>
            </a:pPr>
            <a:r>
              <a:t>Direction detects order inconsistency;</a:t>
            </a:r>
            <a:br/>
            <a:r>
              <a:t>reversal need not create a cycle.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33672" y="1115568"/>
            <a:ext cx="3721608" cy="5056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25696" y="1261872"/>
            <a:ext cx="3346704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400" b="1">
                <a:solidFill>
                  <a:srgbClr val="237C56"/>
                </a:solidFill>
                <a:latin typeface="Aptos"/>
              </a:defRPr>
            </a:pPr>
            <a:r>
              <a:t>2  Close a cycle at fixed graph mass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5696" y="1627632"/>
            <a:ext cx="3310128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000" b="0">
                <a:solidFill>
                  <a:srgbClr val="5B6B80"/>
                </a:solidFill>
                <a:latin typeface="Aptos"/>
              </a:defRPr>
            </a:pPr>
            <a:r>
              <a:t>Edge count, coverage, and backward mass are matched.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2039112"/>
            <a:ext cx="1737360" cy="25603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1F2A3A"/>
                </a:solidFill>
                <a:latin typeface="Aptos"/>
              </a:defRPr>
            </a:pPr>
            <a:r>
              <a:t>Backward edge, no cycle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90288" y="2459736"/>
            <a:ext cx="713232" cy="420624"/>
          </a:xfrm>
          <a:prstGeom prst="roundRect">
            <a:avLst/>
          </a:prstGeom>
          <a:solidFill>
            <a:srgbClr val="E4F4EC"/>
          </a:solidFill>
          <a:ln w="16510">
            <a:solidFill>
              <a:srgbClr val="237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0288" y="2459736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42432" y="2185416"/>
            <a:ext cx="713232" cy="420624"/>
          </a:xfrm>
          <a:prstGeom prst="roundRect">
            <a:avLst/>
          </a:prstGeom>
          <a:solidFill>
            <a:srgbClr val="E4F4EC"/>
          </a:solidFill>
          <a:ln w="16510">
            <a:solidFill>
              <a:srgbClr val="237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42432" y="2185416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94576" y="2459736"/>
            <a:ext cx="713232" cy="420624"/>
          </a:xfrm>
          <a:prstGeom prst="roundRect">
            <a:avLst/>
          </a:prstGeom>
          <a:solidFill>
            <a:srgbClr val="E4F4EC"/>
          </a:solidFill>
          <a:ln w="16510">
            <a:solidFill>
              <a:srgbClr val="237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94576" y="2459736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S3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5303520" y="2395728"/>
            <a:ext cx="438912" cy="219456"/>
          </a:xfrm>
          <a:prstGeom prst="line">
            <a:avLst/>
          </a:prstGeom>
          <a:ln w="25400">
            <a:solidFill>
              <a:srgbClr val="237C5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303520" y="2770632"/>
            <a:ext cx="1591056" cy="0"/>
          </a:xfrm>
          <a:prstGeom prst="line">
            <a:avLst/>
          </a:prstGeom>
          <a:ln w="25400">
            <a:solidFill>
              <a:srgbClr val="237C5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6455664" y="2395728"/>
            <a:ext cx="438912" cy="219456"/>
          </a:xfrm>
          <a:prstGeom prst="line">
            <a:avLst/>
          </a:prstGeom>
          <a:ln w="27940">
            <a:solidFill>
              <a:srgbClr val="BF680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498848" y="3172968"/>
            <a:ext cx="1737360" cy="25603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1F2A3A"/>
                </a:solidFill>
                <a:latin typeface="Aptos"/>
              </a:defRPr>
            </a:pPr>
            <a:r>
              <a:t>Same mass, cycle closed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90288" y="3593592"/>
            <a:ext cx="713232" cy="420624"/>
          </a:xfrm>
          <a:prstGeom prst="roundRect">
            <a:avLst/>
          </a:prstGeom>
          <a:solidFill>
            <a:srgbClr val="FDF0D7"/>
          </a:solidFill>
          <a:ln w="16510"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90288" y="359359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42432" y="3319272"/>
            <a:ext cx="713232" cy="420624"/>
          </a:xfrm>
          <a:prstGeom prst="roundRect">
            <a:avLst/>
          </a:prstGeom>
          <a:solidFill>
            <a:srgbClr val="FDF0D7"/>
          </a:solidFill>
          <a:ln w="16510"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42432" y="331927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94576" y="3593592"/>
            <a:ext cx="713232" cy="420624"/>
          </a:xfrm>
          <a:prstGeom prst="roundRect">
            <a:avLst/>
          </a:prstGeom>
          <a:solidFill>
            <a:srgbClr val="FDF0D7"/>
          </a:solidFill>
          <a:ln w="16510"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94576" y="359359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S3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5303520" y="3529584"/>
            <a:ext cx="438912" cy="219455"/>
          </a:xfrm>
          <a:prstGeom prst="line">
            <a:avLst/>
          </a:prstGeom>
          <a:ln w="25400">
            <a:solidFill>
              <a:srgbClr val="BF680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455664" y="3529584"/>
            <a:ext cx="438912" cy="219455"/>
          </a:xfrm>
          <a:prstGeom prst="line">
            <a:avLst/>
          </a:prstGeom>
          <a:ln w="25400">
            <a:solidFill>
              <a:srgbClr val="BF680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5303520" y="3904487"/>
            <a:ext cx="1591056" cy="0"/>
          </a:xfrm>
          <a:prstGeom prst="line">
            <a:avLst/>
          </a:prstGeom>
          <a:ln w="27940">
            <a:solidFill>
              <a:srgbClr val="BE43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453128" y="4425696"/>
            <a:ext cx="1572768" cy="512064"/>
          </a:xfrm>
          <a:prstGeom prst="roundRect">
            <a:avLst/>
          </a:prstGeom>
          <a:solidFill>
            <a:srgbClr val="FCE8E4"/>
          </a:solidFill>
          <a:ln w="15240"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07992" y="4453128"/>
            <a:ext cx="822960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950" b="1">
                <a:solidFill>
                  <a:srgbClr val="5B6B80"/>
                </a:solidFill>
                <a:latin typeface="Aptos"/>
              </a:defRPr>
            </a:pPr>
            <a:r>
              <a:t>Direction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76088" y="4453128"/>
            <a:ext cx="6583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600" b="1">
                <a:solidFill>
                  <a:srgbClr val="BE4332"/>
                </a:solidFill>
                <a:latin typeface="Aptos"/>
              </a:defRPr>
            </a:pPr>
            <a:r>
              <a:t>0.000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44768" y="4425696"/>
            <a:ext cx="1572768" cy="512064"/>
          </a:xfrm>
          <a:prstGeom prst="roundRect">
            <a:avLst/>
          </a:prstGeom>
          <a:solidFill>
            <a:srgbClr val="FDF0D7"/>
          </a:solidFill>
          <a:ln w="15240"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9631" y="4453128"/>
            <a:ext cx="822960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950" b="1">
                <a:solidFill>
                  <a:srgbClr val="5B6B80"/>
                </a:solidFill>
                <a:latin typeface="Aptos"/>
              </a:defRPr>
            </a:pPr>
            <a:r>
              <a:t>Acyclicity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7727" y="4453128"/>
            <a:ext cx="6583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600" b="1">
                <a:solidFill>
                  <a:srgbClr val="BF6806"/>
                </a:solidFill>
                <a:latin typeface="Aptos"/>
              </a:defRPr>
            </a:pPr>
            <a:r>
              <a:t>-0.328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53128" y="5138928"/>
            <a:ext cx="3264408" cy="694944"/>
          </a:xfrm>
          <a:prstGeom prst="roundRect">
            <a:avLst/>
          </a:prstGeom>
          <a:solidFill>
            <a:srgbClr val="E4F4EC"/>
          </a:solidFill>
          <a:ln w="15240">
            <a:solidFill>
              <a:srgbClr val="237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81144" y="5212080"/>
            <a:ext cx="3008376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200" b="1">
                <a:solidFill>
                  <a:srgbClr val="1F2A3A"/>
                </a:solidFill>
                <a:latin typeface="Aptos"/>
              </a:defRPr>
            </a:pPr>
            <a:r>
              <a:t>Acyclicity detects circular support</a:t>
            </a:r>
            <a:br/>
            <a:r>
              <a:t>after direction mass is controlled.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29016" y="1115568"/>
            <a:ext cx="3712463" cy="5056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21040" y="1261872"/>
            <a:ext cx="3346704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400" b="1">
                <a:solidFill>
                  <a:srgbClr val="6948A4"/>
                </a:solidFill>
                <a:latin typeface="Aptos"/>
              </a:defRPr>
            </a:pPr>
            <a:r>
              <a:t>3  Do not collapse the two sources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1627632"/>
            <a:ext cx="3310128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000" b="0">
                <a:solidFill>
                  <a:srgbClr val="5B6B80"/>
                </a:solidFill>
                <a:latin typeface="Aptos"/>
              </a:defRPr>
            </a:pPr>
            <a:r>
              <a:t>On reversed controls, 39.2% of traces move oppositely.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94192" y="2084831"/>
            <a:ext cx="3182112" cy="667512"/>
          </a:xfrm>
          <a:prstGeom prst="roundRect">
            <a:avLst/>
          </a:prstGeom>
          <a:solidFill>
            <a:srgbClr val="F0EBF9"/>
          </a:solidFill>
          <a:ln w="15240">
            <a:solidFill>
              <a:srgbClr val="694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40496" y="2157984"/>
            <a:ext cx="1783080" cy="47548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200" b="1">
                <a:solidFill>
                  <a:srgbClr val="5B6B80"/>
                </a:solidFill>
                <a:latin typeface="Aptos"/>
              </a:defRPr>
            </a:pPr>
            <a:r>
              <a:t>corr(q_dir, q_acyc)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23576" y="2157984"/>
            <a:ext cx="1060704" cy="47548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2000" b="1">
                <a:solidFill>
                  <a:srgbClr val="6948A4"/>
                </a:solidFill>
                <a:latin typeface="Aptos"/>
              </a:defRPr>
            </a:pPr>
            <a:r>
              <a:t>-0.907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94192" y="2971800"/>
            <a:ext cx="30175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1F2A3A"/>
                </a:solidFill>
                <a:latin typeface="Aptos"/>
              </a:defRPr>
            </a:pPr>
            <a:r>
              <a:t>Cross-trace standard deviation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94192" y="3383280"/>
            <a:ext cx="713232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5B6B80"/>
                </a:solidFill>
                <a:latin typeface="Aptos"/>
              </a:defRPr>
            </a:pPr>
            <a:r>
              <a:t>q_dir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0" y="3410712"/>
            <a:ext cx="1783080" cy="201168"/>
          </a:xfrm>
          <a:prstGeom prst="rect">
            <a:avLst/>
          </a:prstGeom>
          <a:solidFill>
            <a:srgbClr val="F1F4F7"/>
          </a:solidFill>
          <a:ln>
            <a:solidFill>
              <a:srgbClr val="F1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44000" y="3410712"/>
            <a:ext cx="1783080" cy="201168"/>
          </a:xfrm>
          <a:prstGeom prst="rect">
            <a:avLst/>
          </a:prstGeom>
          <a:solidFill>
            <a:srgbClr val="BE4332"/>
          </a:solidFill>
          <a:ln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91088" y="3364992"/>
            <a:ext cx="475488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100" b="1">
                <a:solidFill>
                  <a:srgbClr val="BE4332"/>
                </a:solidFill>
                <a:latin typeface="Aptos"/>
              </a:defRPr>
            </a:pPr>
            <a:r>
              <a:t>0.110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94192" y="3867912"/>
            <a:ext cx="713232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5B6B80"/>
                </a:solidFill>
                <a:latin typeface="Aptos"/>
              </a:defRPr>
            </a:pPr>
            <a:r>
              <a:t>q_acyc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00" y="3895344"/>
            <a:ext cx="1783080" cy="201168"/>
          </a:xfrm>
          <a:prstGeom prst="rect">
            <a:avLst/>
          </a:prstGeom>
          <a:solidFill>
            <a:srgbClr val="F1F4F7"/>
          </a:solidFill>
          <a:ln>
            <a:solidFill>
              <a:srgbClr val="F1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0" y="3895344"/>
            <a:ext cx="1105007" cy="201168"/>
          </a:xfrm>
          <a:prstGeom prst="rect">
            <a:avLst/>
          </a:prstGeom>
          <a:solidFill>
            <a:srgbClr val="BF6806"/>
          </a:solidFill>
          <a:ln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991088" y="3849624"/>
            <a:ext cx="475488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100" b="1">
                <a:solidFill>
                  <a:srgbClr val="BF6806"/>
                </a:solidFill>
                <a:latin typeface="Aptos"/>
              </a:defRPr>
            </a:pPr>
            <a:r>
              <a:t>0.107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94192" y="4352544"/>
            <a:ext cx="713232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5B6B80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0" y="4379976"/>
            <a:ext cx="1783080" cy="201168"/>
          </a:xfrm>
          <a:prstGeom prst="rect">
            <a:avLst/>
          </a:prstGeom>
          <a:solidFill>
            <a:srgbClr val="F1F4F7"/>
          </a:solidFill>
          <a:ln>
            <a:solidFill>
              <a:srgbClr val="F1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144000" y="4379976"/>
            <a:ext cx="791085" cy="201168"/>
          </a:xfrm>
          <a:prstGeom prst="rect">
            <a:avLst/>
          </a:prstGeom>
          <a:solidFill>
            <a:srgbClr val="6948A4"/>
          </a:solidFill>
          <a:ln>
            <a:solidFill>
              <a:srgbClr val="694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991088" y="4334256"/>
            <a:ext cx="475488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100" b="1">
                <a:solidFill>
                  <a:srgbClr val="6948A4"/>
                </a:solidFill>
                <a:latin typeface="Aptos"/>
              </a:defRPr>
            </a:pPr>
            <a:r>
              <a:t>0.023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394192" y="4965192"/>
            <a:ext cx="3182112" cy="868680"/>
          </a:xfrm>
          <a:prstGeom prst="roundRect">
            <a:avLst/>
          </a:prstGeom>
          <a:solidFill>
            <a:srgbClr val="F0EBF9"/>
          </a:solidFill>
          <a:ln w="15240">
            <a:solidFill>
              <a:srgbClr val="694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49640" y="5065776"/>
            <a:ext cx="2871216" cy="5943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300" b="1">
                <a:solidFill>
                  <a:srgbClr val="1F2A3A"/>
                </a:solidFill>
                <a:latin typeface="Aptos"/>
              </a:defRPr>
            </a:pPr>
            <a:r>
              <a:t>Averaging leaves 21.3%</a:t>
            </a:r>
            <a:br/>
            <a:r>
              <a:t>of direction-score spread.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6318504"/>
            <a:ext cx="11192256" cy="24688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950" b="0">
                <a:solidFill>
                  <a:srgbClr val="5B6B80"/>
                </a:solidFill>
                <a:latin typeface="Aptos"/>
              </a:defRPr>
            </a:pPr>
            <a:r>
              <a:t>Corrected frozen encoder: 120 paired traces; matched-cycle control: 57 pairs. Intervals are paired source-trace bootstrap, not training variance.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6565392"/>
            <a:ext cx="1119225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950" b="1">
                <a:solidFill>
                  <a:srgbClr val="BE4332"/>
                </a:solidFill>
                <a:latin typeface="Aptos"/>
              </a:defRPr>
            </a:pPr>
            <a:r>
              <a:t>Mechanism evidence, not yet a downstream policy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64592"/>
            <a:ext cx="11612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7202A"/>
                </a:solidFill>
                <a:latin typeface="Arial"/>
              </a:defRPr>
            </a:pPr>
            <a:r>
              <a:t>Trace-Level Verification: From Reasoning to Auditable Topology Reward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530352"/>
            <a:ext cx="113385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875"/>
                </a:solidFill>
                <a:latin typeface="Arial"/>
              </a:defRPr>
            </a:pPr>
            <a:r>
              <a:t>Live sampling, edge direction / acyclicity diagnostics, and exact five-source reward decomposition</a:t>
            </a:r>
          </a:p>
        </p:txBody>
      </p:sp>
      <p:pic>
        <p:nvPicPr>
          <p:cNvPr id="4" name="Picture 3" descr="topology_audi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841248"/>
            <a:ext cx="11567160" cy="5783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37160"/>
            <a:ext cx="4937760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2A"/>
                </a:solidFill>
                <a:latin typeface="Arial"/>
              </a:rPr>
              <a:t>Independent reasoning-edge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155448"/>
            <a:ext cx="150876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2D5F91"/>
                </a:solidFill>
                <a:latin typeface="Arial"/>
              </a:rPr>
              <a:t>Annotator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557784"/>
            <a:ext cx="11475720" cy="9144"/>
          </a:xfrm>
          <a:prstGeom prst="rect">
            <a:avLst/>
          </a:prstGeom>
          <a:solidFill>
            <a:srgbClr val="D7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94944"/>
            <a:ext cx="219456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7202A"/>
                </a:solidFill>
                <a:latin typeface="Arial"/>
              </a:rPr>
              <a:t>Item 1 / 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9696" y="694944"/>
            <a:ext cx="283464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6717D"/>
                </a:solidFill>
                <a:latin typeface="Arial"/>
              </a:rPr>
              <a:t>Predictions / IDs hidden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694944"/>
            <a:ext cx="11430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66717D"/>
                </a:solidFill>
                <a:latin typeface="Arial"/>
              </a:rPr>
              <a:t>Saved 0 / 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69880" y="758952"/>
            <a:ext cx="1307592" cy="73152"/>
          </a:xfrm>
          <a:prstGeom prst="rect">
            <a:avLst/>
          </a:prstGeom>
          <a:solidFill>
            <a:srgbClr val="E8EBEE"/>
          </a:solidFill>
          <a:ln w="10160">
            <a:solidFill>
              <a:srgbClr val="E8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69880" y="758952"/>
            <a:ext cx="27432" cy="73152"/>
          </a:xfrm>
          <a:prstGeom prst="rect">
            <a:avLst/>
          </a:prstGeom>
          <a:solidFill>
            <a:srgbClr val="176B4D"/>
          </a:solidFill>
          <a:ln w="10160">
            <a:solidFill>
              <a:srgbClr val="176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69848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6717D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35024"/>
            <a:ext cx="1106424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Arial"/>
              </a:rPr>
              <a:t>If 5^x = 100, what is the value of 5^(x+2)?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47088"/>
            <a:ext cx="7040880" cy="43159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029968"/>
            <a:ext cx="18288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6717D"/>
                </a:solidFill>
                <a:latin typeface="Arial"/>
              </a:rPr>
              <a:t>REASONING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14016"/>
            <a:ext cx="6629400" cy="960120"/>
          </a:xfrm>
          <a:prstGeom prst="rect">
            <a:avLst/>
          </a:prstGeom>
          <a:solidFill>
            <a:srgbClr val="F7F9FA"/>
          </a:solidFill>
          <a:ln w="1016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578608"/>
            <a:ext cx="384048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D5F91"/>
                </a:solidFill>
                <a:latin typeface="Arial"/>
              </a:rPr>
              <a:t>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514600"/>
            <a:ext cx="5715000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7202A"/>
                </a:solidFill>
                <a:latin typeface="Arial"/>
              </a:rPr>
              <a:t>To get from 5^x to 5^(x+2), we may multiply by 5^2.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47872"/>
            <a:ext cx="6629400" cy="1188720"/>
          </a:xfrm>
          <a:prstGeom prst="rect">
            <a:avLst/>
          </a:prstGeom>
          <a:solidFill>
            <a:srgbClr val="F7F9FA"/>
          </a:solidFill>
          <a:ln w="1016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749039"/>
            <a:ext cx="384048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D5F91"/>
                </a:solidFill>
                <a:latin typeface="Arial"/>
              </a:rPr>
              <a:t>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675887"/>
            <a:ext cx="5715000" cy="7132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7202A"/>
                </a:solidFill>
                <a:latin typeface="Arial"/>
              </a:rPr>
              <a:t>Multiplying the right-hand side by 5^2 gives
5^(x+2) = 2,500.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029200"/>
            <a:ext cx="6355080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6717D"/>
                </a:solidFill>
                <a:latin typeface="Arial"/>
              </a:rPr>
              <a:t>Click a directed relation only when one step supplies information used by the other.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1847088"/>
            <a:ext cx="4187952" cy="43159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029968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6717D"/>
                </a:solidFill>
                <a:latin typeface="Arial"/>
              </a:rPr>
              <a:t>DEPENDENCY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377440"/>
            <a:ext cx="361188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7202A"/>
                </a:solidFill>
                <a:latin typeface="Arial"/>
              </a:rPr>
              <a:t>Candidate pair: S1 and S2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28346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86700" y="2875788"/>
            <a:ext cx="64008" cy="64008"/>
          </a:xfrm>
          <a:prstGeom prst="ellipse">
            <a:avLst/>
          </a:prstGeom>
          <a:solidFill>
            <a:srgbClr val="17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807208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S1 -&gt; S2</a:t>
            </a:r>
          </a:p>
        </p:txBody>
      </p:sp>
      <p:sp>
        <p:nvSpPr>
          <p:cNvPr id="28" name="Oval 27"/>
          <p:cNvSpPr/>
          <p:nvPr/>
        </p:nvSpPr>
        <p:spPr>
          <a:xfrm>
            <a:off x="9400032" y="28346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807208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S2 -&gt; S1</a:t>
            </a:r>
          </a:p>
        </p:txBody>
      </p:sp>
      <p:sp>
        <p:nvSpPr>
          <p:cNvPr id="30" name="Oval 29"/>
          <p:cNvSpPr/>
          <p:nvPr/>
        </p:nvSpPr>
        <p:spPr>
          <a:xfrm>
            <a:off x="7845552" y="32004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3172968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No dependency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675887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6717D"/>
                </a:solidFill>
                <a:latin typeface="Arial"/>
              </a:rPr>
              <a:t>CONFIDENCE</a:t>
            </a:r>
          </a:p>
        </p:txBody>
      </p:sp>
      <p:sp>
        <p:nvSpPr>
          <p:cNvPr id="33" name="Oval 32"/>
          <p:cNvSpPr/>
          <p:nvPr/>
        </p:nvSpPr>
        <p:spPr>
          <a:xfrm>
            <a:off x="7845552" y="400507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3977639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High</a:t>
            </a:r>
          </a:p>
        </p:txBody>
      </p:sp>
      <p:sp>
        <p:nvSpPr>
          <p:cNvPr id="35" name="Oval 34"/>
          <p:cNvSpPr/>
          <p:nvPr/>
        </p:nvSpPr>
        <p:spPr>
          <a:xfrm>
            <a:off x="8869680" y="400507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10828" y="4046220"/>
            <a:ext cx="64008" cy="64008"/>
          </a:xfrm>
          <a:prstGeom prst="ellipse">
            <a:avLst/>
          </a:prstGeom>
          <a:solidFill>
            <a:srgbClr val="17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0848" y="3977639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Medium</a:t>
            </a:r>
          </a:p>
        </p:txBody>
      </p:sp>
      <p:sp>
        <p:nvSpPr>
          <p:cNvPr id="38" name="Oval 37"/>
          <p:cNvSpPr/>
          <p:nvPr/>
        </p:nvSpPr>
        <p:spPr>
          <a:xfrm>
            <a:off x="10314432" y="400507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0" y="3977639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4489704"/>
            <a:ext cx="354787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4590288"/>
            <a:ext cx="3182112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6717D"/>
                </a:solidFill>
                <a:latin typeface="Arial"/>
              </a:rPr>
              <a:t>Optional annotator comment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5321808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176B4D"/>
          </a:solidFill>
          <a:ln w="10160">
            <a:solidFill>
              <a:srgbClr val="176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8120" y="5358384"/>
            <a:ext cx="1234440" cy="365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Save + next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5394960"/>
            <a:ext cx="96012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66717D"/>
                </a:solidFill>
                <a:latin typeface="Arial"/>
              </a:rPr>
              <a:t>Skip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8440" y="5394960"/>
            <a:ext cx="96012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66717D"/>
                </a:solidFill>
                <a:latin typeface="Arial"/>
              </a:rPr>
              <a:t>Previous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6455664"/>
            <a:ext cx="585216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6717D"/>
                </a:solidFill>
                <a:latin typeface="Arial"/>
              </a:rPr>
              <a:t>Matched order; three shuffled copies map labels to source coordinates.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6455664"/>
            <a:ext cx="24048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6717D"/>
                </a:solidFill>
                <a:latin typeface="Arial"/>
              </a:rPr>
              <a:t>Paper audit artifact | editable slide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WEcxaGRHaGpZV3g3VEgxZmUxUldVMFI5SUQwZ1hHMWhkR2hqWVd4N1JIMWZlMHRNZlNBb1hIQnBYMXgwYUdWMFlTQjhmQ0JjY0dsZmUxUjlJSHdnVUY5eUtTQmNYU0E9IiwKCSJMYXRleEltZ0Jhc2U2NCIgOiAiaVZCT1J3MEtHZ29BQUFBTlNVaEVVZ0FBQTdJQUFBQlRCQU1BQUFCUVhpWjlBQUFBTUZCTVZFWC8vLzhBQUFBQUFBQUFBQUFBQUFBQUFBQUFBQUFBQUFBQUFBQUFBQUFBQUFBQUFBQUFBQUFBQUFBQUFBQUFBQUF2M2FCN0FBQUFEM1JTVGxNQU1uYTczZStyUkZRaXpSQm1pWmxJM0pOa0FBQUFDWEJJV1hNQUFBN0VBQUFPeEFHVkt3NGJBQUFaTmtsRVFWUjRBZTFkZld5a3gxbC8vVzNmbnIwR0VUV2xRdXRTVVVRcVdFUDZJVVJoRGR3SkphRHVsZDZWcEVWOUxiV2lVR2oya0NpSWoycjlSMXFFa0xJKzBValFDTHlRRU5wTEc3dHRVbkZOb25XcFZBa1ErTlJRRlNwZDFnSlVOWlIyVGU5OEpFNXl3KytaejJmbW5kZjdZVy9QUjI1MDJ2ZVplZWFaZVdhZXo1bDN2WmNrTjB2K0Rrei9YRDR1QnpQN0xvZjQ4cmFEKzRZR0k3NS9zKytKWHBZRW5idjdYblpST0JLeDQrQytvY0dJeHkvM1BkSExrV0JTelBlOTdKYllNRFFGOFlJQiszOE9TRnlvUHRML1hDOC9pc3IvOXIvbU5iRnFpR2JFOHdicy96a284ZjFYckdabEpoMTV6Y25kOTJaYVg0WU54OFJtLzZ1KzNwSWRFVCtmeC9SdnB3SmxNUTk5Rk50bjdudjNTV0phbkhudy9UK1lyN0w5c2w1N3FWOEs5QitXWk44Z0YyZy9Uai82eHpuTU5mWnlFUGNxNGhzb0VCZHVzK3NsWVBkWGMxYldiL1BzUU9vOUpNa1d2RFhLeWkvRUZ6UXJscU9JUHpFanJFVFJSN0R4eVhYRHNubGVtejhVTnVzdUYrcGp2Q0ZKTnZtbnI5MmUwZ0ovNmx0VTNrZndMOGZacW40NzFqNUt4TEkwWStnajJQYVVZWmc5TDY4ZUFxT0Y5TVZCUmhtV1pNSExISmI0VHMzVHpEK2c4aE5SQnRkaUdYMWhYWHppdXo2WTBpYnRSS21PWENNSjlzckROWHg4N2ZhSEpPUEUvTFZENFBPWWFBNHl5aEFsUzJhM1lIbjZFTlljelNsR3haTHRaSUZiNUo0Y284MDVRTUp1aHhzK01KV0t0LzlSa3BTME1HLzlLckdPY3NmQnA5NXl4NWQrQmh1aVpDZXhNT2VOWmxLUmt3YW4yY3h2U3Fqb0N4b3h3Rkd1bncwNHBMNGRJZk9JaGhEYWRUNEo4NlZ5OXFBVEZBWTAvQ0ZLZGdMcElWc1dGaDMzVFZ0WmQ5d1FWeVRsRnJibWhwRHM1L1Rhd0xEaHQvQURVcktteW5haVAzQnl3QXVrSVVwMlRZaXJiQkhrV3VkWjNZTGptVGdDazFVK3VBV2EvN0Vkank0d1V4VVhKWGR0d3puVlVFRnhibXN3L2t0aWV5RENJVW9XK3N1VE9ncTd5ekVlcDhWelFmUDlRZ2ZvY2REc0JNaWpXSDFjKzVpa3cvbUZ2RkdhQjJTNE10Q1paM2czRlZoT2pldHZra3puU3FuS25UYnRROVZzRk5uNU1yVWM4Ykp1bExNaXhDbkhLMlVhbm5ZN1ZNL1FTRTRNNnpyQUVHMDI5VmFaakdDVjhhQlRaaWswTVR3cnpFWkJzdkdFdXV1NnZxTWR3UENTbWhCVzJtUlRWN0RtVUcwWnVoZHdiTkJ3TkR6SnptQlZpNHgzQk04Yy9XMXhQUWZGbXQwb0pHSGJiSWlqQ29MaEJjVWIxcmpNdUpUSHRoWFcwRC9ZTWtyVEwrbndKSHNjcTF4ZzdKQTNqbDQzSlpQR1JIWHZkV0hlYlJURmo3TVJqaXhZRS9wMm15NVZGeGlicE4yZXFCbXVSN0NzYzdNZXU3dHV3NU1zQlpsNU4xRkNHVlJjc2xOaWovV2pnR3c4Mkd6ZWV3VGUvL3JEd3V3K1JaeXpuSjgyR2xqZzVhZ2U0ZXFneWZYd0pBdFB5cjZ2a2NBeWJmZ01GeVU4N3BFUXh6VWdKRHNxOVJueGE1b1Y4bE1ibkswV0dnNTBpVGJpYXowZnV3czhQTW11Q2VPakZBc2s2WnhGVm96T3k1NE5NZURadk10U2g0ZGVOVU1qbFRMdVJqV1JPc2ZUUmtQUzVUa25zamQwWFVnMGVuaVMzUXBNRDVMT1N3YTJQQVRDN0hadnpCKzVYaENrL3o0NVAyM3NrZmZpd0lveFBNbldndXNqU05yTEx0alMxbmhtVDVzeHo1QTNFb2hBNHBzWXBWUUhDaTMxZ1c5cWhpZlpLcitPZ1hoZ2lsN2NaUkliNTZ1SDN2c2VqWFU4Nm1BcmswcGdGdzRrMmJaM1B1NW4vVU9UTEduckl1T0VEZ0MrUGp2a0pQZGgySjI4Zm83aWlFTDFUQ3BSeVR2RTk3aUNkUzhGNlpGSWRodWFaT240dXNBNG9mZndTNnpPUWFTVXJsb092TGpESEgwSXZPLzRYTll5VnV6anU5V0VXUEc2ekh3MXhVYXljdVdzaDNlVlBNbisrVjh6YWdLNy9QbEI1bHVwSkVrK2FRdjFWVGV2QitFWU9HOGI0TDlPMmNvTkJrQ09UWi9senNGeVl5UWRibWN3Y2dFekJDVnZzM0lrKzltQXZHdnN5MGlXWHRQd1JXS0pML0s2Qjl0THB5UWhyMzNSUTk1QWxUU1QxbVBaT1VlOW5wYUZZNVRYRDIvQndyTGpkWENWdUdUcEN4QmhjVFF4S0NQWmx2RE8yT1NjTjJPRXNxM3FydUN3Rmw5TmM0bU9Ib0p5aXhXZkxVZzJiK3Y5anZIYW1IbnJwZEIwYmdoTG5obkVKVnNQeWJ0bU5SbkpObndTakJpK2hXVnJxVGtIREZ1L1lWTmoydmdOdGl5QXRZeC85dkZkYWhNOHQ1UmZzOW85Y2Y0aGNSNWxmWmMreitkK3FUa3FXYnIrUEgzbitlb2VrWXAzME9mREsvdnprSkVzbEpWZHZ0RGx6Tm44RVRwT3NkZjhiMkxrMHd3YlUzakY3K1NWMVp5NWNUV3V2dVhqOE9zSGl5MUZjYzJObFJSUzhXYk1mVnhlc3gvTEQyNlNKQ3JaeDhYbHZ3ZDJxMGxkMWpmcHMxdkpTTGJLM2RBVWF0djdERkYyd2FpOHIzSHZNOFpob3g2SGV1ZVV2QlBxV1BhclhoaGhINDN1eXZPYWR4bytwdkxZTVhrcUxIYjVHbEZVc3VzcWxhNWNwSmw3aTNxaFpDbmtOQTNqVDBLdysrYldEV2ZmNlBxQ29idXV6M3FPV05IczN5QTZMbkUxSG9RYzVJTUhpaTExTCswc3E0bUwwaG1XZHR6RU1TZ20yVkY5eFNDMWJjUlB6bUpqVUZzb1djcVludjB6S3VmKzRMOEF2eW1QVUxhWDdBSW9OVjdhdDIvZnlKR25xN3VQa3VGOGFLTWYyc2tVck1STG5wYTJNb2t3dHVGQTF5NWJUdVZwanhmbEF1cFNwbHVuZ3RWTXYrY0szK1dZWk5lVWFreEptUjd2VGVkQ3lkSngxcFVyendaY0JOVTF1MzU2aTNzeHdNcnFqOGcvSStFZjMxeEprcEgwRERLS2s2bjFqMXU3cDg4L2xEYlpDRStsWWhmL05oTzFIc0xjNGpnVHAzOXlublUrR05qSWFDV3VTczJoWjFxY1JyNXk0b3dKUzlYZDAzYytkSEpiejRqTG1qTW5UcHc4RXh3TTJ2eEdmVXdIOFU2VGlHcUxtbFEvcHFwWFh1K09HUEZ2dUZXV1pPYzVHYWdubWVzWjVSdXI0SC9WNDRhU3BlT3NMcnNQZm4xRDk4cDdGTzMzVnhHcW9vR0pKQjZXcFFUU1VzVkt0aTNyVFRmUnFOaER6dkMzbGIxa1RhNkhNSkFBSzdzTHJ2ZkJvRnBHSytHZm0zcE11NEp0MlVEaENrVlZrQldwS2xLd1ZkMWZQanBXTVZDdGF5VkpMeEt1S2o5bEwvblIzbDFKMmt4WUVadWQwbmRGRTlLUGpETnZVamJUdTZmSkJVUEp0dERGemRvTktncXo2OFVjT2pvTTNYN1BwZTkvQnZqM1g3cDA2VDlTZFMxZCtGTUF2L2hLTzBIaFh2Zy85azJNd3ZyZVBDRkhxaDlQM1VvdWZEZUM1YXVlUURuM1JXblBsdjVBQUZnNTZ3OEFIWkxUVTJ2aFhJZFkzZEE5U0NrL3lUaTkwTWJMZzFmNTVEZzBzYVNqdGlLeEkycVM0SHBna3Y0Q2cvOEpkVVN5a3pvTEtNbEFYV1RKZFZXSXQ3M3htMS82WVhCNEZidjd6QnRjTWhGS0ZrdGkraFB3bTZrNnlaWnk2RXJpMnFva00rbm5pTGtyTC91M0ExUGlxdGs3Nm4rL3VieCt6RHVGSVp4YkwxbjFUaFlaM25wdm9NTmkwTHRpblJFaDZweFZHTzJQZXIwOXJNWjRrcjJnR21mbEpGUEJuVWlOdnVRNTdlNEZrb2hrQzJvTGsvWU9qVlRYY2dZSXpsVzhMQm92OHIwMlBvYVNoZkN0aDFRTTdmZFp0T2ZBZGc1ZFozZGVEZ0FlcE1JbHliaFcybUJEam50aGVpWTFpZ2xaTXZWSFpuUEtNSVN6OXFLQkQvU0V2K1YvRklHeG1BTFJ5RkJDTjhFeDhaZXVrc0ZxVklVenJkc21wSDhiOWQzRHBBeklCWnVKeHVPc0hpRnRFbERXR3dsd1RyeVZXdVJWeUZrRlZkM0dHUnZRaUw3ZTJFellzOEY2RGwycWg4ZnU3YWdaek5KYWZuQWI5elozM01tNVl5TWU2SkhnTGF0aDhGaytKS1BGZDFETmR1aXhrVFZjdE5Na1NZWDVzUm03ZGFZRHg1cTJkYk5hMDRCblhVYVY0T2RtdHBSdlNrMVUyMCt5VTRxcG1qc1FUNWlYTlU3M3JOd0RtNlg4UUV1QThaUUxXc2tTM2FsSXR5bHRvQW4yYWxIaHAwMDZZRnRrZTN1Sms3ZE5Ia0RxdU8wd0NOdWJ0b1lFZHNWV0RnQkF4NWhib0lGS05uK1F3M0ovdEhWNUk1aUtZdzBxSnRtT3RMVnhJd3paZFVZN3ZYWG5GQ0xlV0k4NnA4eTk2bXl4YmpUU2FWZkRZQVBKMG5GV1M4QXd1ZDhURzYzUVJMY2Q2VGxwZExGbzMvcWFRd3hrelhSaEpGaXdpeVZGTGo0SVlkVk9BM1Zhc3BVREFBMlhDT3RScWphYVU0T0xKRW55R2FaWnFqT3d6b2cwUGI2SXNtTkErMVJOTGUrR2VsekhxSXBMMlBJbHEzNERqUC9PVTYycFIzZmFWVGNUQjVLbDQreUM1YVVyWUcwVzV1UEhEMDFhTkJJcTJXUnpXcHNqcG1LV011NUY5MW0yTWVOOEt4clcvZE1FN2RDTGRtVTQycUhHSFFIMVFBUmZZVDFkSkVtbTBvOHpoQVFaMXFFaWNYWmFSWlc2czA1MGIrdFFVM0VUNWt0Vy9lakxGTnNiUThXMHE3R2t1UWdrQ3lOMDJ1TVl6WU1tVEFhRjgxLzBac1RPNHdMQmNaMTc0eVRvVW9HazNlUnpUREJqUE9ZY2M0Sy9tZVBodUdTbTU3VDl3Mm40cHFmdVo1SHdMb2E3am95VjNoUXV6ckJtTHpkVzdXTXFTcGE1Wk9GMVZpUjIzZGxUdm1RcmN2SlJKMWxqSlBSdGYyT3FXNHVhalVDeUxVaFdZM3A1V01tV3pLRW1vS29zNkFZWENHYXZxU2JvbVlrUzVQQldPZVVhbDZ6dUwvRlZScE1rY1BFZUdSK2lkeGlNK0FjOXZPWGU1dVNZNXFLcWYrVEtQRWRJR05pRlRHTkVzaTNsMURwOGYrZU1hcVptaG4weXFJS3loRGtyeEdUTU9EcW1YZTF0elV3ZzJVYTR5Z3pQWG9NOXo1YmRPWk4zS0ZoUDZnTEJuSkVuVjRaeDA2aW82NDc3Wk53NGRLQ2c0eVpCb0k1ZVBxVW9CL2lFd3Z1elArWTVCbmFrT0M2V3MrTkRxYlBpOXU2Z0ZFMWJpYlRDSmJ0bW5JTndJK2ZhckE1UlkyNXZXaTlvZHBoMmRUWjFXeURaanBPQTdyRHZvMmkwZloyeHhpaW1qZTlrZ1dETStPQXFTMEE3aTR5S3JoR2RPQ2NNKytqQmo3T29RbFczUFRwWjZmZjlMUFNEVFFIMXFRYWpRbTNsd0lYS1hkblovTU91d2JkNXBGR042WjU4VnEyeW8xclRpZ3FOM1ZhOTlySFpDUlVUeGgyM2pXVk54TFNyY2xhM0JaS3R4aEk5TTJmMjJkTGFEY0ZGRkJmWHcrWlF6d0xCYUZPUFUzT08zMXlNbWhsS1luZkR3Q1BNSXJ6anJQeVRJMThqaUtidjk3UFlGbStVeDR3aEdRNHFXZ1Uva0Rud1VBOFhaMHgvUExscXF1YmpRb1ZvdmxFUWFGTmlzWDhYVmJkOUpMdWwraFJkS3Y1N1ptdU03bUdNMjh3NHZtUXhsYk4xMDJXZnAzblhneDFYR3BuWGx3VUMyd1hzck9yS2hPOE9rNVlRUDIzN01TQnd2eGkxeWJBS3JHTU5PY1VQcDRheVk5SVkxVENWaGdlYlZBbGxMaEpQUVJMMWNxWEF3ZFBWc1BKVi9Bd0JmZCtVa3dKWWtBQStjcjN4dWdyVXNiOHJpV21YTDltYzQreFQxYmRBT3dwZlNOL3hPak8vZXRiMUFsb1JVeDk1alpFYitoWVo2MmFJaHR2UndCbVRtNVhmTHpGZHpSUHpzRUVwemk0WmxIMU9waUNPbC9qNzJkVDVEaHFrSENvVkRJcUVNbEkxWWNST1JRQ0xNNnk5cFMzVU5aV1V5Y0IyRm13aitGZkw0WGN1ZVpMRlJKS3dGYm9VdE1hMHk1ZHMvRGhicUQ1SW81WEZ3K3VCT3B2dlZNRDhsaTIvQ3BpcDhJQlM0azVJOTF5emk1eHl2bGZoc0FvY28zNWpJeGdUVHM0N1cwRmZtbUdYdnV0NGQzT05FWDFVaEQ0WEJyV0REbVhuQlZsM2Z1Qmd6Zjczb0FoUlV5NGZrbDIyL1JCMEZBd1Jueld0ZVpJMWY1QmhJcURwajJkVXUzekpZb1pJdkVSeTNSQUxZN3ViQ0NyK2RVdFpad0JwZUNLa2plQytENkpubkNnUWNsbFcwT1BQaGNnMkdNRTd6L0FGc1grY2hlUHlJMlE0U2s5MTJBdGIxRk5pZHlVZ2d3TnAwdVZUUE9BQXV4Z1FvRG9lZGphMmluY05HRXlYanRHcEZ0dS9QTWthVzEwTGgwN2kydVZMRmpOa0paRFVsK0ZOWDFoL2hGSVdydDUwY1VEYVRDbXJPVmtacHJGZ3RsL1JOQU1YOFV1cWV5MnpOK1E4cU94WlZaWTkvZU1zOU0ybGxHYml2cDlRc0NWTE5KcUtYN2NWRGVBVzVtSXluWUlibnhtRkJ2bENTRUZadStkYzVMWFdQSFdEaEhkczk2bzVBdFJaOXp6SnR2V0d0cklpaW1xWEwxbHNGYmMwelVKdE5jRTFJaUY4UTZTOGNJbjZ3TlN2dmUvQmV6Ni9RUlZWeXY2bVowVXYzOXVvUldhY01ZYTRGeHRKeFdNSDI4S1BzMG5iWkNCbTFrR2VXUE9Db2Z1TDJEZjYxa2lrblcvWHViVVpBbmJZZFUyQTRNSFpacURCM01OaUNUWmNBN2JGSEEvek02aFVYN08zc2hvVzFTNWZzdTJZQkFwN01nTmFBbi9yUVdLUUtwdUJHR1c1OGhXN25KU2RXM0lDQWE0WGxWbG5uVEdtK21CVmpka0ViRXB3bklWaWVRbVY2ZGJmRTROb3JtZHVFK0t1TFBFV2pPUjdycXpDTUt4TVdDZXNuZFVNaU1nM2IyRDUzREszSHl5cVU3NXF5b3UyZDQ3TllyZVdaWitpYnpQVVZncG5vMFpmc3RoTjdrT3BBeHdKUEcxTDdXSEZ0eGtvM1FvNklIYVlzdmNWb3BEKytXNEZ5VStkaExBV2dGaTlXazl0MlVlbzJzd1hVeHFWdS8vZ09JdVVFRXAzd0lJMUtML3dxZGRpdnRqUGROZkUzaWcwR096R1pxdEVXOEhhcHNlWWRieFY1M2p4NHVFYjlNMmZKeTd3YmMrUkxQemlpaHdSd0NsdmFIS2xFZTN5SkV2dVlTZWdncStGQjZ5ckhmN29ucWVKV093cXVpTmd1ckwzYWhwZ1hPd1N4cFJvSU1Cc0wxR0g2VEF6TmxTRisxS015OGJCb2pZTkVrOWt0VTdWV1h0ZklMYjM4cVZMMzNvM2xGcUlqOFZJVTNGMS9aZUFxR1RkSUZyMVlUY2tyR2dMMCsxZ1ZkOXpZUlN6aDlpM0ZZbjNmRkdPWk92R3RXQXZRK3VyK0VGTHplbEpGcWJGc2duTlZOSmFTcEsyWWN3MHl1ZHhwWDhka0xHeTk5Ky9lYTdpSHdxTExKYTVFVkxGME9NeEo2ZDZVZDV5MFJHMFBEblRGeXowZHJrdS9VSkltV3paL2JjWU5Ya2tlUkFxeFFJdHNGSDIyNzVoUVJ4Tk5YamJPVlBzaWxMYlNiN0tITWxhM3dCVjVINk1SbzNGVU44Yk43Q0lkeW9HMk9kSE5pbkFMckVXQTA3SzRBR04rOWpmUFoyQ2xoV1hFVkRua2xOVVE0dG5SU2xHM0JtcmZtNUhxSjQ5emk2cWJnTi96cXc3bnQ5eU5qb01BcHp5Rk9BbEswUmdkeHpaNzFxdzdzZXROZXR0NnM1NGlzWXhJL3RXSWlieXVHU2hRZG8vd2Z6NWUwMVF3SFdHVm94V2E3TlBQdk1yRmF4QmlEZmU4NlVObXNFclR0RjQ4NFNjclM0alRlSERxU1RYSHl1OFh6d1F3QkZRN3BMcmpPVUlLZCs0NERpN3hUZkVtNi9uaXJ0a2Z2c1A1UkRCb082V0tHeGdOdEFDMjdTRU13NWZGTS9aWmdCZ1ZWZUw3dnpiTWs2MHhBZU9TNVpwRUZ3SUh6cm5PT3NrMjJGeTJmUXBwVmFzaEcyb2w4Z2JZc0hiRXFkVEhqbk9OL3plbFpBWmlXN0l3SlYxeGxOTXM4cGNzdXRHYjlYb2gvQzFWT3c0eXBtZi9mZmY5eGxtTlhtY2xmV2FpWXRSTEJybjNLbGV1VFBic1c0UC9BZ2haM1Z6eVp3MDJueGRjY25DVWhjMFdTZDBIWEFtaTNZbUMxaWJMWXN6cDArY1AvL1FpVE5wOW1kT004Y3pSVjhtZlowUWYyTkdtL2xDS25jcUU3QlN1ekRUbFo1cmt0dktObThqZUd2QnRaU1laSkZ5UGU4d2REK1NEUjBNZjBnZ3VOU2lBTFFVRHVxd3dCU2g2THBNR1UrcjZyT25GelNpVUxIYlZUZDJYZVZCT1M3WjVNcy9vd2RJUGhOYzMwQUNWdXFtRDU1V3Nxd3RDd1ovd20wNlZDZ0FmZUJOcG9ybnlEKy9QcjN5U2FPVUJoRVBCUFNhWURtSi9QMVJaY1VRMG5GcnlWYWd0NmRzaFZTS3BoOTZnVmx2cUVuZ2VUMFhTNjNBT2c3S2l3NU9qVDY0cGhCcTZQQ0lHTHJnY0RtU2RSMHlVQ21heGZRbTJld0ZOdzBQRzlKcnprem1OMFNQcy9LMDFFeGEyYXdrblhma2E5clZVd3V5d21XSFFaZ09jMFNHUER5d1poTVdTQ0RJWGVpaTM4WFdwTHJpcG0xN3ZMcDJCcGtzYTg2ejcvNGxXK2JhWmNmdlRiS2xyTEppaE5GZXR4YUJvR2xuZEFCc1lDZkpPbVB2TzFFTnB2bzQvMjA2YWxnd014SFhmdGhRNmxaWnl3WmFmcHc5enN3WHptYW5HeWN5VFVHbklnK3ppRkdyaHJBMzRTVDJRR1RvNUxNMzRxM293WEU4bG14N28rdUtTMEk4TEV6NStlTVpLNERDTUp1dHNadjFvbkNMcHIvOHlaSjZ3eDlPQllacVhYQTIwQUxyZk00RTl5SGhqejlIdURIQ0w3T0lrM2ZxaVpEYkpxNWR0ckhIT0Z2ejVqYlVhMUZMTkZqMjlOSU0xdzZyZTI0dGV4SWJFeXUyVDhGdEsxMkVNVEhQcERuL2paQ2xQUndBeHcyYkZ5R3Z0VkpXbzdQRENEd3pYOHNNZDlOeFZvcktyQkhVbUNyM2I3T2Vkcm1aZXJQWk5CbzBPc3hUdWhFamtKZG1PRHlXOUZMbG9xdHJxTWdtbStUSzB6YTM2dFR4bHVoQktqUFlnUnNRTXBiTUlHQTQ4QlBBTmcxMjFNdnY4SWFUeTh0MDRzOWpTbWZtL0lORDM5N1kweTQzZmsrU2hWWnNPaElERlhyZVd5L05NT1I0cHBtZElxUUpQd1J2OGV0bmZweEZOcFhWQ2FJNDdJSklzbTNIN0lRYndlTk04UHZ5cmE1cHdLaDRua1l1T2VXZ2F0K1M1ZHBGQStqU2syU2hGYXVHd0QxbmV3MnprT0JMam94QmxlaTFXTm41c1drK0JTeEc3Z1FOZ0IrOXVZc05ORVFRa1dURkR0OWlCaXdiZ1QycnNmajVQRytUdW0vUGpNcWNxdjc5UWQrUzVkcGxPZTN4UER2SkE1d2xiakd2YVJ0akFLNFVndkNrZTdXamhsZHgvM3RtMis0YktOZ2JrVTlYYzNRbE52M0Iyc3I4YUllWFRiNk9ZZ1ViYXZ4UForNGVxLzdkZVlTTkNxVmM4by9lR2JKdnlUYTQ3cm1CZXJMWkNSN2dMRzNiTE1xMnhJRENoVnZod3k1Ly9nRzlBN3pQVmhpMkpGSmNiZXkrVGtLL3hmNUx5Y0k1N1BFZDhtM21yVThML3cvaytaaUhDOVBQSjRoWFA2QUgvUlFFS2Q3ckxQUEM5NkgrQUwxZ2xmOEg1b3YrM0hXdWxqNUsxOVpvQnp1K3lmYnBqWjg0ZHg5NGVQTXJuOGhNMEpOa1c5NkJTNCtoZlVsbVJML0JYYm03Rk5QMktEbjNhdHR3RDcwNFVoVS85b2NQdk9KZjNFa1NtdTJWVDBUMHhBMXhhTkM2bmxTZGJNWjBiVjZQYjdDR001dERLL3ljbjFGRm1LS2ZlZnFjZU1USDlHT3poZFRNYlgySEhhd255VFppRXVqdFA4NjlYOUJ0TkYxSHV4VFRUbDdrdDJxbWRSUTZQSzAyN2FvekQ3T3J0SkxkUi8vUmRCN3lrMzRoaUg3YzZLMXlubVA0Z1NEOGZKQzFzVUN5dXdzQk4xVit2ZzF3cXJxMSt4NC9NVVp6UDVLZFNYZFAzRW0vYVhReURaTDJIdVBzVmtRcVNGc1BiRGR6NzRxc2QvWU9OSTY4OXFTNDgrc1I3STNVdE5iMTNEUHpuN3QvRmU1aVA1TGRiemQ2c3RuSnR6bmpNWVBwdi9rejFadlA3QTVNRDNTWDhoMlZiSlpwK2tidFFxejVaaHZiZ2ZJZXEvUUtYbmZKZHJvR2tWNlg4diszMzJ5djUwSytCZGRic3ViWE96bFBOK0Z3QjlyKzZUZEVSK3ZYVzdLTnJzZndLTnN2czhiUjJLMXNsejFvdVdzQy9qTXlYYWl5NkFHSlI5aGxhbmJRbXkxbUJ4cjg5WTlwM1ArcGZodEk5ZW4ram5lZnNRWWpicm52Y3UwejlrM1V6TE45NzhFMCt4OEdQcnpTTjdrakdJejRzL1lZOUg4MDh4L3JldnJaL0FBQUFBQkpSVTVFcmtKZ2dnPT0iCn0K"/>
    </extobj>
    <extobj name="334E55B0-647D-440b-865C-3EC943EB4CBC-2">
      <extobjdata type="334E55B0-647D-440b-865C-3EC943EB4CBC" data="ewoJIkltZ1NldHRpbmdKc29uIiA6ICJ7XCJkcGlcIjpcIjYwMFwiLFwiZm9ybWF0XCI6XCJQTkdcIixcInRyYW5zcGFyZW50XCI6dHJ1ZSxcImF1dG9cIjp0cnVlfSIsCgkiTGF0ZXgiIDogIlhGc2dVRjl5SUQwZ1hIQnphU0FvY2w5N2IzVjBmU3dnY1Y5N2RHOXdiMzBwSUZ4ZCIsCgkiTGF0ZXhJbWdCYXNlNjQiIDogImlWQk9SdzBLR2dvQUFBQU5TVWhFVWdBQUFvMEFBQUJXQkFNQUFBQlk1Ykc3QUFBQU1GQk1WRVgvLy84QUFBQUFBQUFBQUFBQUFBQUFBQUFBQUFBQUFBQUFBQUFBQUFBQUFBQUFBQUFBQUFBQUFBQUFBQUFBQUFBdjNhQjdBQUFBRDNSU1RsTUF1Ky9kelpsVUVHYUpxeUoyTWtRZjdwNlRBQUFBQ1hCSVdYTUFBQTdFQUFBT3hBR1ZLdzRiQUFBUjRVbEVRVlI0QWUxY1hXeGpSeFcrU1RaeEVpZHh1aFVDV29IZDNSVUZoUEJ1V3dTSWxwdlNBcUpJZUtFRmllNkRJNHFFVkFrNTNVWGFwVUt5aTNncEw0NHE4VWJsU0xRZ2djRG05d1dRTFNUVVJ3Y0pDWWtIN0pZaWZoN0lObG5vN3JhN3czZm1mKzVjM3pqMmRib3JlaDk4Wjg2Y2MrYk11VE5udmpuM0prRndBMTJQOVc4Z1k0WXdKZnZ1SVpnT24yVjJ0M1g0blk3Vlk3ZzZsdmlFaEp2WEpxUjRZbXJQWGRxWW1PNlJGVSt4L3NpeWI1Qmd0dmpCTjZobjJlM25ZcDVqNmZJYmE5TW92ZmYySWdNNXlwenIrTWUvTW9yYW9XVllwSHNJTHJMTm9jVnZHTVk1dHViWWtuRzh5Q3NmY2hqU3JTenYrdm9hci9pMEc1L1N1T3JhK1BTanR4VEpmVy81UEYzUFVYbUNtL3BTcEhmWXNzSmVkUzI2T1dvenJCTTFkQmErdTFNU3M5OUM1YTFSanRUcVUzNG9QTXRxcWFrL1JFVlo1b0dNSmJpdW8wMzRFbVBSR0tyYnhpN2tYdk5VbEM1NXBKdUMwTjJMbXJrSVA3WTBNWXVsUGJGTnZWZlEvY2pDUFBOZEcrVzVJZXZUM3ZZNHpaZ2QvaXVNL1dkU2xuZTNvcHFyN0hTVWRIUFU1NzJGM1diTUR2OUhNRDIzSnpTV2ZDMnF1Qm1EaEtJOE4yWTlqQWFrT21OMitLZHd1VFVoMDYzNElYcFludHpjbjlBUXROb0tXOWRsWG1neUowYk53WThYWFk2MGFqNThuTG81VVE4NVpJWVZYTDlnWTdFcHkvRGpkWmNqclpvUEgzczNhM2dNZ2lYMnV1T1hMUHkyYWxGV1VMZlh1ZFUwYnRHSGovbUpoZUp4YmQxWFB1UHN6a0V3RDc5MUxDbGExNjZucmNieGloNTh6REFQaFkzWHcyRktOOTBBU2ZEUjNwOXBuNW1RSHozNHVNU3VIT2JJMCsxcng4MVZBRDR5dXdQeTYzOXRRbnBsRHo3T09EdGNlaDBkaXFhY2EzeWJNU2ZqUW42ZDBCbkRnNDg5OTVFZXl2QlQ2MlRLWFV5QWo4NHlobC9aeWRRNmN4UjU4TEhzSGE0Yy9odTdNdThHZDhCSEozVUJ2enI3VG5xRDhlRWpZLzMwMUIrMkpnQWRlMThKSTdDN0JEOU94aVFQUGdKaVRhYW53OUVhMnZPTk11STJmQ1E0T2FGTjFJT1BDeXg2UmowY0I2VFVTOU4ySE1IRmpxV1lzcnBwaHNlbml1L3RTL1VTUHM0ZVUvMGRjWi9ZM05FN3puRFd2OTExNmZ0U0pyM2I0M2Z0L1ppMHZkeFBTMmZkUGorVDMyek5WZFJiYWZVVUJIOWt4M1UyU2NESFRLaTlsM01CVm5tM3lQZWRseGtMMmFmVHM0RTBaWjVoMEw1Rng0NTFxcWR4OWV5TlpRWitzNVdXVXowVnJyQXpRVjJkb1FWOEpIeTZJWHJjc1EwSlp2ZTJGeWo5TThzK3NSRzh2Q3Q1Yk52R0tIZlpsVmJ3R0Y3ZlYxVG5ZeWlUb2puNy9GeGxUcENpWlY0YnZ3dWxvWWVNUjA1NVM4REhISHBZRiswTmUyRUVPM2hKVkVUbnpmY0hRYmFaYnU3dUNYYUpGbGxwYThVRks4ck9rZTR6ZXFWQnZPSnVLenVwSG1ZeXhYVktNRW1jTCtJRitiRWo3TTQ3a1RnRWI1NFZwdWliRDVoUkVEeXAvSzRVeFpZd2ZlMXNpZ25QUlR0VFVYYXlaQXQ0eDlCUHhYU3VaSkhlVUV6TDdpUjhwSUI4V25RaFJ5Y3FjNVN5S0xQcjVaT0laa1dXYW1KeVI4N0N1VXQ1TnlTTHJrZjh4VWlNWkdqRHh4WFU1QmdOUjZTVStjdS9CMTJ0Q0d2UW8vZTVWUmtQRlh4czZqNTBnZVNtNkZUVlpIc1VHRlBPSlNPbEtsOHNwL3A4a05IUkl5YjR1RWJEb09zQzNQaFJVUno4ZXhZU0F5N3loSFBsTzZoaWpYS2lnby9ZMlRZNUFWQ1YydVhWcHU4QlNtSjFZRm5ZMkV5eGpIcnY2Wk5ISTAxUWg2ZmRWeWJSa3ovemE3cCsrNDlIVUg2bmFoaDRoMXNHWFU2K0F3cVcrZDVZbHV0YVpSOHhPMnBjTzQ0em9zQnIzVlhjTUY5TzQwWlc2VWZOVzhmNkNmV0dBT05KZnpxWEhnalVVYlF5MTk2Wi9YdFl4RmdIWE5HNVBNc2RXNVQ3VEs4Z2xlZmxZMFFHdVcvNks5V3dUVVB4QnBHYTdEN1RNbTRKWTN4TjZ1aHByREN1VXNqRDJrMmxodUNqdkhidi93SWZnMm9hLzU2alBDWm0zV1d1U21jZkZZVEQ2dDAybmRBRXhEeTh3aW5acjVxR3NVdldKT3hxN0RxMlZpaXdYcXhXNGNRMFZNYnE2RjBFR2JoYmZBbVZyMG1tdHZ6c0FQTUV2cFBYQ2hGQklaR1VMeXlnRGFreW55SjhKRCt1S1ZNcmtTeXVvcWR5YjV5R21weDZhdHBwT1JsSDRXRTF2aUJZb0ltSTFiR2FTcysyRW15ck9uQ24rNjJJNWNkeUpJdHJHekIyK2NVV1ZPQkpyWk1tazMyY0ZtdVhacXJ4NDhydDRNSHE2QkR2UWE5TWtnQVMvT285Q1hZR0VXUEFueWlUcE0rMFdadC9HTW5pR3FhMFNubTVYU3Y0aUJsNlhlaWVzdjNJU2ZENTlnajlMaVZ1d25VVExEQTExWTZUTERPY0VVVldrSXdFSHk4T0p6UWlGM29RbjEwcCtJaFpKM3ZFbDBRUnBWZ2RFY3BRMVY3aTRRZFRaVldxd1pNcnlHS3l6RkRkQXFVcGJRVFVWQ2ZEeVI2VUMrQkd2TGFZVmpNaHFNZ2VmVCtHVHM1azZLN0tTWE1CYTFrSEN4MnI2UVFxbitiUXZmaU1vZGFCRFZKMzR2T2xRWUd6VG5JOXZZSlNWKzZJa3VkSHpOMHJpdWtnZCtlY0hoV2s5L0V0U2V3WjVKOG9FOVV4b0c3bUk4SEg3UUZjNlpDckNxeHErQmlvSHIzNGlOVnhmWVJlM2ZObFZBR2VsdjY4czZ0ZG1pd1QxVEdnWHRUNUtveHlwSWcwUUhFTUdWRmVQQ2dOSCtmVnR5ak9mazJpSThKSGhJNkV1WUFoNnM4NzFaN0h2OFpKa0lrWlJ4ekorTEZpWWFzNHp2RnAydlJpU3lxYlVTakU4eU5XeDlvSVBUcDVRRTkreDhJNnhxWEpNcDZTZUlJeHR6eEorTWc3VjZabjllTFNnUkxUVC9sVzJJbXBzeGx2Y1NKMTJreTRHRDRzQ0xIUlVkNUV3OGRrbVJnMWNTU3pSNGVta3pqR1dOb0I4by84ZEMybTM3eGVYS1dPVkl2emRkL3BBYXZESlRpdEF5dHQ3WjA0bHE1QmRoWjhUSmFKMCtQVHNDMXVDZW9vOFBFZytVZjYybElpMzBWMWtKalRFeFBieXJwakhWYkhoa01ZcmxMWDREcU9IMHJYSk4yQ2o4a3ljWHA4bXNuM0RJQ1BYdzgvc0kyRDAxUEZFeS80MG9nM2d5NTlqRFZTaUlFRlh0UHc4YXdLajdUTWFvWVRwVmo0bVBuMngzWS9CWFA0TlhmMFJFY1dmOVdTQlNUWkNxb1ljMithbEdOT1Q2Q296SVhuaWllZWxjSUxmUFRCNDZFOWVzY0t5V2p5cC9Id01SUGV6NURhN3JLSFNwR0Jrb0lENUIvQmpTbXdSbEpCdThCdkFNQ3JzaEJnTld5cU10MWo0ZU55bnAyNGxiMGlISm5KWHlydENmL05pYWoza25xbUNnVFlDbm01YkJCeVR6dzRYK1lQYlBmK2tMMkQ4OVBvZ1dLL3lSNEt6ZWdkSzFRWG1JVjlVWTZIajNoVFVtR2RxZDBhM3Q5ZFUwSWozakVmMTdob1hicHZ6bm94YldZS1o4SHp2Ujd0SnROaytBcmlweklDbnJ1Nk1TUDFUZE9qcG9jdHI0RitiSmhaRDJaNkNKN01rK3pxZHBETkM3Y2RvZEZ2UG9uUnorbDNpNjRWeWtiRUxQRk1neXFNVUZSejM5bENzdXZWMGljcGR5ak94cWJ0b0NYc0pTZTVUTE1qUkh1V3EwTHBFNmtVdkNKVEtldDBxekM4elE2Q2hvaWsrVTJZSk9KQ1QvcjgvUGx2TVBhbjgrZUpLL2FDMS9xeVFXR3dpTXljZUVlNklEUlhhUFRYUW93ZW5kZUVwR3VGMUVad1Z4WXJzZkN4MmFKM3BSVHN1aVp6cDRRUGVNY3pLM0NSNGphL1pZb2RmdWMvZWRrbUtUaDVySmxHWGxwaTRqOFlpQTkzNS9GWmxmcDZzNnQ5SG9HQ0s1LzlpYU9rcDFFNjRvWUNEWTVNbDVIVEtEelQ5TXB2WS9TQ2NVYjI0VnJCZWVsblNpZUZNZWY1NnRCTlZNakEycHlZUnFYUnpydVdPdXhwcjFGVndjZHo5Z1EzdnVBUzZIVFRFcVZpUTc0d25lY1BkQWFxWnVRU3llc3pXUVFLWWt5T0ZtanRDNjJJMVFvMDJESUxUSWFhT3FWc3NtTDBLTkg1U2h6M1hTdUVNdnhPNjlVYXhzSEhCYmkyS3BaK1hqaEJTNDVRS0lrbk5TLzI4bXp4dEtXang2NVpOWHBCMjdmci9QVFc0aFE4RGhRb3hpcmdaMkpyMjVrTENMSTZiY3RGRWFGclFtdGRZVERTWXVhUGhrQnRHcTBZdmZpVDN5VXg0WER1dEswUXl2QmJWUjFob3V2TWoyNE42S252Q0ZmLzR0SzJvWTlXcW9nc3dhS3creVY3T21MV3EvbkJkVGM4K05qVHcrWE9DUHMwUTNrTXRUQlQzWGthY0p1YmZBUG5GbGRQSUsvQVMzZ2lSZ2J0SFVIbDVvalJpeUFPaVEwMFJheVFLb2dPVDlHRjRLVlhoNkRRYi9Xa3R0WVFSeTVoWEtjaFBNMW4zb0s3NUtaMHZPTHFTNjREUUF2MXdNa1pHVUx3TXQ5bDlzb0lGQ1FJb3JaUnJoWGZGaFI0QWROZDUxb3R5RG1qMDBFNU1rZU0vaUtYa0FrUTF3cWhsSDdyeXJvS05OOXA2TEwwOHhwOTF3Qm5wbk9WK05SdWsyWExKZkdjbFdKRUpsV2t1NWQ5eERnNmtvRmNrTDJYSDVGclJKb3lvbTRtRVVIUVNISGh0bGgrYzZ4c0dpeVp1cDd6T1FyQ1ArdlE2TmU0cERpNFJxemdMZnlIZnhOMzRUcy96Rk9YN0xibnY3dGgybVRKUkIrdjZhQUVUTWpQaU5DMjNIeWw1VWdqbGxrRUxERFh6YlJ2U3RNUUg5ZTRLTEFHSjVtTkFrMGRTeXRHSFRFZXNBWWltZkpsVEp0dHdXbkxGUFhHMzVickFlRnVrL1BCOUQ1dEo1NFZRZ3Q5WkJpVXFUOTVvZXBlR05LNlN4bWo5bGZHUHZ4M3dNZC9sdmFpU3AxdTRJRUlmS3pvaFk1SXRjcE5tSlpJVEcwM2ZpWXh6MWh4eXpHM2dvK1dzcy9zYlpjMTNrTlgwcU1BMi9JSkVWd1VteUVlYjU4clFJeG9FUmxiT0wrMEZid0dKMjBRTkR4Mi9PNEhIM3pnN21ORi8vOVJJUHFBSmEzclgvUzRqdVB6bFBXb1J1ZHJVWmkvNlRMazlaTERDanZOMnlweWo5U2JySVdHaGZCUzZkN3FtcU1uVzJKN3BEdVVmdUlKWThXQk9OQ1I1WWJFTWVoTVVITGNEVEZXOEdhZ1NpazQ4R1lRNWtDV2d6UXMvLzVXdG5zaTVxdVhIUldwdWJabjNoTlJhbkNLSG0xVEFneXpVZWpQVkkxd2JzMlVxYlQ4Y1BGVWpZN3ZDdXhZTXZCVlMzSXJoeDFSRHRyaFFUakdDaTR3NWFJTnFjUzU1VFRDZE1palY1YkVpb2txbUk1R1JJY0JVZXlpSk9qUjhtL2xRVlIzUW5IS08xcTR1cXFMVmdHcjhwcXNXakp0TmZsb254TTRKc2V1Q0Q0K1FlT3M0TTNWYUJpeStwTEZua0tZZnROb0ZQNlJxQys2NEFLZkNBTVcrcG9rN2NncGdwaFVJeElHeCs4b1ZyUjNxSUZmUFJFRFZGWGVzVVdweDJMSktNMDg1YnpHV1hmVTZFTjZ6REZXQ0lYZHhLOFBPRTk5ZjFjTFhjUCtDdmpvY1dPcGVUUkR3RzZnSEZLV2swN0JSalMxSkdOWmUwZExWanE2YUJXd2E2ektxaVZUMTBzUGZoWnlFdXJUd3lyd2ZTeHFoZEFTNnIxS2F2VnZ6ZlRnbzFEZXZ1aDNRcFRJMzRLN1RGaUltNElDZnhkNGFWYkNSaUFTekJTZUNncUZkOTVteVpiN1ZrVVhxOHBQaE8rNVIwbW1vaFl4QW9SRXN3bzhZNy9wOEc4Sm8xWndsVmtWUlhVSGZzRkVINzl0SklyS1BrYUYyM3JsUmx0UVY0c1loMTRtY2RpVU5KN0RuMFdzT29wcUhmenl6OVdvU2xkUjNDSy9CajdhTWoyOVd6VFVjbGJMUVB5QlFJd1ZYUEZzWW16bkxGYjBpZGd5YWhYd01mYWE5WU9ieGFjbkVEOXBVSU02U2JacG5VL1RKTWN3dDNHcmlpMkNlSUxsZUR4UzFrSEVsc25wYlVvdGV3VEVkYTVIWWl6ZkN0NWExVkdDVitOK3JPZ1QxendDVFdZZlBjbU1oblJlRXdoNUZSOTFuRkdKNVFaTmhoNHRUdGhLb21XNTlxZzhlNWwrdmN2QVIxdG1Tc1hIUlpWTjFKTy9LTHIzcmVDcUcvdUhSeWZMNmRrekFrRmxIMzNSUkd0MlpKaGVVaGxDTEhDZWljV0V3dndycjBPZmlKZ3I5bXVGc3pSUHZjdUNqN2FNL2dPdnJrbzFISkhyV3YwMXJtOEY2YzRrUWczUnV6bThldGFNUmpBdnI2UHlNektwRmFYeitwUU1RWFgyRWRtK0l2WUN2UHZGRWZJWUVjV3BvczFEcFdTeTU2WWs0WVpKcU9Dakk1Tm5mV0xDWC9lMzZNNXoyUHg4V3BkcGN0OEs0bG9ZQXRKVWRld2xpUlF1L2ZMYTA3V1NGSzB6SWM5VXoxcUxuNE9OYlBnTTV1TVNSOHZMdEJ5WGl6V2pPV3U5U1ROVSt2cFh6Vk5INXB5WWgyVWQ3bkNLb1VrdlV2QW94RmdCYWxzRFdLdVBTTEZDcXliTlM3Kzg5cFdXbmRSWnBQMXI3RjJZY1VWNmN5bXZOazNON3V0ejdFcXdVK0EwaWd4ZDdEcjZPaElmSG5Fa09xbDRiSmxNYVhjOUNINW4vZzFyZzEwci9ZQmVIM1lrdTI4RkdvYjV2NVYxMDZOVU5lYXRXaGlvWUVidEpiRWNEWGJIOTlodXg3UXRoK3loL080MmNxaTM0SmV1UlhiMTZHNmZGOFZQZWRXcW1HS1RHWXpseUNBTGVsdkkzcWM1UzZ6d0JMMjh2bDFUUEN0b3R2cUpXODJ2Q290M3RGUXhuVHZlWlE2Nll2NUJxc1dhZVNyY2U3dndsNlRPUFZJOHRZNkQ0Y083UDVLVVA0ZEUwTmQ4M0xKKyt0RVNjazU3ejMreEwvZ2NtUXUzc2xQUGFubUF5NjNneGZEVUM0YmlXd0hRTGpVWnJrTW9sV3VETzZuNGFidkJ6RU8wN0tqZHhPTEZjVkplYXhZMXZnajRXSXR2c2FsNU81TFlEUk10aHduemU4a3N0MVJzK0hKTVgwaUpINy9ud2J2dkt1cVlON2dyd01jWURSSCsyY1JvRkdGT3Izb3FTVldEUThJa2prTnRPNktPMlVtOWR1UHpnRWtpRTIrTHZFU2NlSC83ZERCTTduVXVDZlh1bzM5eXpkMTRvREs1RGhNMTYreGpBbGZQZVEyZndIaW9UWFA3bjFRUDBSNlZmVXpvTWpORW1FMFFuMWpUTC9jUDdCUHIyMU1jN2crZU13cHllY0p2RXFRSE1yOWg3TDd6YjdwalhBK0VIR2VlSEZmTi83MThlT3llQjQ3cGxNWCs3dmdmVWtZd2R5c0o4cmNBQUFBQVNVVk9SSzVDWUlJPSIKfQo="/>
    </extobj>
  </extobjs>
</s:customData>
</file>

<file path=customXml/itemProps68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1995</ns0:Words>
  <ns0:Application>Presentation</ns0:Application>
  <ns0:PresentationFormat>宽屏</ns0:PresentationFormat>
  <ns0:Paragraphs>266</ns0:Paragraphs>
  <ns0:Slides>7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20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2</ns1:i4>
      </ns1:variant>
    </ns1:vector>
  </ns0:HeadingPairs>
  <ns0:TitlesOfParts>
    <ns1:vector size="23" baseType="lpstr">
      <ns1:lpstr>Arial</ns1:lpstr>
      <ns1:lpstr>宋体</ns1:lpstr>
      <ns1:lpstr>Wingdings</ns1:lpstr>
      <ns1:lpstr>Wingdings</ns1:lpstr>
      <ns1:lpstr>苹方-简</ns1:lpstr>
      <ns1:lpstr>微软雅黑</ns1:lpstr>
      <ns1:lpstr>汉仪旗黑</ns1:lpstr>
      <ns1:lpstr>汉仪书宋二KW</ns1:lpstr>
      <ns1:lpstr>宋体</ns1:lpstr>
      <ns1:lpstr>Arial Unicode MS</ns1:lpstr>
      <ns1:lpstr>Times New Roman Regular</ns1:lpstr>
      <ns1:lpstr>Arial Narrow</ns1:lpstr>
      <ns1:lpstr>Arial Narrow</ns1:lpstr>
      <ns1:lpstr>Arial Narrow Bold</ns1:lpstr>
      <ns1:lpstr>Times New Roman</ns1:lpstr>
      <ns1:lpstr>DejaVu Math TeX Gyre</ns1:lpstr>
      <ns1:lpstr>Georgia</ns1:lpstr>
      <ns1:lpstr>PingFang SC</ns1:lpstr>
      <ns1:lpstr>PingFang SC Regular</ns1:lpstr>
      <ns1:lpstr>Times New Roman</ns1:lpstr>
      <ns1:lpstr>WPS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/>
</ns0:Properties>
</file>

<file path=docProps/core.xml><?xml version="1.0" encoding="utf-8"?>
<ns0:coreProperties xmlns:dc="http://purl.org/dc/elements/1.1/" xmlns:ns0="http://schemas.openxmlformats.org/package/2006/metadata/core-properties">
  <dc:title>TopoPRM Figures</dc:title>
  <dc:creator>Anonymous</dc:creator>
  <ns0:lastModifiedBy>Anonymous</ns0:lastModifiedBy>
  <ns0:revision>1</ns0:revision>
</ns0:coreProperties>
</file>

<file path=docProps/custom.xml><?xml version="1.0" encoding="utf-8"?>
<ns0:Properties xmlns:ns0="http://schemas.openxmlformats.org/officeDocument/2006/custom-properties"/>
</file>